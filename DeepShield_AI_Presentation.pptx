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1600" y="1097280"/>
            <a:ext cx="9418320" cy="2011680"/>
          </a:xfrm>
          <a:prstGeom prst="roundRect">
            <a:avLst/>
          </a:prstGeom>
          <a:solidFill>
            <a:srgbClr val="F8F9FA"/>
          </a:solidFill>
          <a:ln w="127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371600"/>
            <a:ext cx="8869680" cy="914400"/>
          </a:xfrm>
          <a:prstGeom prst="rect">
            <a:avLst/>
          </a:prstGeom>
          <a:noFill/>
        </p:spPr>
        <p:txBody>
          <a:bodyPr wrap="square">
            <a:spAutoFit/>
          </a:bodyPr>
          <a:lstStyle/>
          <a:p>
            <a:pPr algn="ctr">
              <a:defRPr sz="3200" b="1">
                <a:solidFill>
                  <a:srgbClr val="8B0000"/>
                </a:solidFill>
                <a:latin typeface="Calibri"/>
              </a:defRPr>
            </a:pPr>
            <a:r>
              <a:t>SOCIAL GUARD AI: DEEPFAKE DETECTION SYSTEM</a:t>
            </a:r>
          </a:p>
        </p:txBody>
      </p:sp>
      <p:sp>
        <p:nvSpPr>
          <p:cNvPr id="7" name="TextBox 6"/>
          <p:cNvSpPr txBox="1"/>
          <p:nvPr/>
        </p:nvSpPr>
        <p:spPr>
          <a:xfrm>
            <a:off x="1645920" y="2194560"/>
            <a:ext cx="8869680" cy="548640"/>
          </a:xfrm>
          <a:prstGeom prst="rect">
            <a:avLst/>
          </a:prstGeom>
          <a:noFill/>
        </p:spPr>
        <p:txBody>
          <a:bodyPr wrap="square">
            <a:spAutoFit/>
          </a:bodyPr>
          <a:lstStyle/>
          <a:p>
            <a:pPr algn="ctr">
              <a:defRPr sz="1600" b="0">
                <a:solidFill>
                  <a:srgbClr val="555555"/>
                </a:solidFill>
                <a:latin typeface="Calibri"/>
              </a:defRPr>
            </a:pPr>
            <a:r>
              <a:t>Multi-Layered Detection using EfficientNet-B0, ELA, DCT, Face Forensics &amp; Grad-CAM</a:t>
            </a:r>
          </a:p>
        </p:txBody>
      </p:sp>
      <p:sp>
        <p:nvSpPr>
          <p:cNvPr id="8" name="TextBox 7"/>
          <p:cNvSpPr txBox="1"/>
          <p:nvPr/>
        </p:nvSpPr>
        <p:spPr>
          <a:xfrm>
            <a:off x="1371600" y="3474720"/>
            <a:ext cx="9144000" cy="457200"/>
          </a:xfrm>
          <a:prstGeom prst="rect">
            <a:avLst/>
          </a:prstGeom>
          <a:noFill/>
        </p:spPr>
        <p:txBody>
          <a:bodyPr wrap="square">
            <a:spAutoFit/>
          </a:bodyPr>
          <a:lstStyle/>
          <a:p>
            <a:pPr algn="l">
              <a:defRPr sz="2000" b="1">
                <a:solidFill>
                  <a:srgbClr val="2C2C2C"/>
                </a:solidFill>
                <a:latin typeface="Calibri"/>
              </a:defRPr>
            </a:pPr>
            <a:r>
              <a:t>Group Members :</a:t>
            </a:r>
          </a:p>
        </p:txBody>
      </p:sp>
      <p:sp>
        <p:nvSpPr>
          <p:cNvPr id="9" name="TextBox 8"/>
          <p:cNvSpPr txBox="1"/>
          <p:nvPr/>
        </p:nvSpPr>
        <p:spPr>
          <a:xfrm>
            <a:off x="1828800" y="4114800"/>
            <a:ext cx="2286000" cy="457200"/>
          </a:xfrm>
          <a:prstGeom prst="rect">
            <a:avLst/>
          </a:prstGeom>
          <a:noFill/>
        </p:spPr>
        <p:txBody>
          <a:bodyPr wrap="square">
            <a:spAutoFit/>
          </a:bodyPr>
          <a:lstStyle/>
          <a:p>
            <a:pPr algn="l">
              <a:defRPr sz="1600" b="1">
                <a:solidFill>
                  <a:srgbClr val="333333"/>
                </a:solidFill>
                <a:latin typeface="Calibri"/>
              </a:defRPr>
            </a:pPr>
            <a:r>
              <a:t>Abdul Taufique</a:t>
            </a:r>
          </a:p>
        </p:txBody>
      </p:sp>
      <p:sp>
        <p:nvSpPr>
          <p:cNvPr id="10" name="TextBox 9"/>
          <p:cNvSpPr txBox="1"/>
          <p:nvPr/>
        </p:nvSpPr>
        <p:spPr>
          <a:xfrm>
            <a:off x="4389120" y="4114800"/>
            <a:ext cx="1371600" cy="457200"/>
          </a:xfrm>
          <a:prstGeom prst="rect">
            <a:avLst/>
          </a:prstGeom>
          <a:noFill/>
        </p:spPr>
        <p:txBody>
          <a:bodyPr wrap="square">
            <a:spAutoFit/>
          </a:bodyPr>
          <a:lstStyle/>
          <a:p>
            <a:pPr algn="l">
              <a:defRPr sz="1600" b="1">
                <a:solidFill>
                  <a:srgbClr val="8B0000"/>
                </a:solidFill>
                <a:latin typeface="Calibri"/>
              </a:defRPr>
            </a:pPr>
            <a:r>
              <a:t>BTAI-01</a:t>
            </a:r>
          </a:p>
        </p:txBody>
      </p:sp>
      <p:sp>
        <p:nvSpPr>
          <p:cNvPr id="11" name="TextBox 10"/>
          <p:cNvSpPr txBox="1"/>
          <p:nvPr/>
        </p:nvSpPr>
        <p:spPr>
          <a:xfrm>
            <a:off x="6400800" y="4114800"/>
            <a:ext cx="2286000" cy="457200"/>
          </a:xfrm>
          <a:prstGeom prst="rect">
            <a:avLst/>
          </a:prstGeom>
          <a:noFill/>
        </p:spPr>
        <p:txBody>
          <a:bodyPr wrap="square">
            <a:spAutoFit/>
          </a:bodyPr>
          <a:lstStyle/>
          <a:p>
            <a:pPr algn="l">
              <a:defRPr sz="1600" b="1">
                <a:solidFill>
                  <a:srgbClr val="333333"/>
                </a:solidFill>
                <a:latin typeface="Calibri"/>
              </a:defRPr>
            </a:pPr>
            <a:r>
              <a:t>Altamash Tirandaz</a:t>
            </a:r>
          </a:p>
        </p:txBody>
      </p:sp>
      <p:sp>
        <p:nvSpPr>
          <p:cNvPr id="12" name="TextBox 11"/>
          <p:cNvSpPr txBox="1"/>
          <p:nvPr/>
        </p:nvSpPr>
        <p:spPr>
          <a:xfrm>
            <a:off x="8961120" y="4114800"/>
            <a:ext cx="1371600" cy="457200"/>
          </a:xfrm>
          <a:prstGeom prst="rect">
            <a:avLst/>
          </a:prstGeom>
          <a:noFill/>
        </p:spPr>
        <p:txBody>
          <a:bodyPr wrap="square">
            <a:spAutoFit/>
          </a:bodyPr>
          <a:lstStyle/>
          <a:p>
            <a:pPr algn="l">
              <a:defRPr sz="1600" b="1">
                <a:solidFill>
                  <a:srgbClr val="8B0000"/>
                </a:solidFill>
                <a:latin typeface="Calibri"/>
              </a:defRPr>
            </a:pPr>
            <a:r>
              <a:t>BTAI-58</a:t>
            </a:r>
          </a:p>
        </p:txBody>
      </p:sp>
      <p:sp>
        <p:nvSpPr>
          <p:cNvPr id="13" name="TextBox 12"/>
          <p:cNvSpPr txBox="1"/>
          <p:nvPr/>
        </p:nvSpPr>
        <p:spPr>
          <a:xfrm>
            <a:off x="1828800" y="4754880"/>
            <a:ext cx="2286000" cy="457200"/>
          </a:xfrm>
          <a:prstGeom prst="rect">
            <a:avLst/>
          </a:prstGeom>
          <a:noFill/>
        </p:spPr>
        <p:txBody>
          <a:bodyPr wrap="square">
            <a:spAutoFit/>
          </a:bodyPr>
          <a:lstStyle/>
          <a:p>
            <a:pPr algn="l">
              <a:defRPr sz="1600" b="1">
                <a:solidFill>
                  <a:srgbClr val="333333"/>
                </a:solidFill>
                <a:latin typeface="Calibri"/>
              </a:defRPr>
            </a:pPr>
            <a:r>
              <a:t>Pratik Nannajkar</a:t>
            </a:r>
          </a:p>
        </p:txBody>
      </p:sp>
      <p:sp>
        <p:nvSpPr>
          <p:cNvPr id="14" name="TextBox 13"/>
          <p:cNvSpPr txBox="1"/>
          <p:nvPr/>
        </p:nvSpPr>
        <p:spPr>
          <a:xfrm>
            <a:off x="4389120" y="4754880"/>
            <a:ext cx="1371600" cy="457200"/>
          </a:xfrm>
          <a:prstGeom prst="rect">
            <a:avLst/>
          </a:prstGeom>
          <a:noFill/>
        </p:spPr>
        <p:txBody>
          <a:bodyPr wrap="square">
            <a:spAutoFit/>
          </a:bodyPr>
          <a:lstStyle/>
          <a:p>
            <a:pPr algn="l">
              <a:defRPr sz="1600" b="1">
                <a:solidFill>
                  <a:srgbClr val="8B0000"/>
                </a:solidFill>
                <a:latin typeface="Calibri"/>
              </a:defRPr>
            </a:pPr>
            <a:r>
              <a:t>BTAI-30</a:t>
            </a:r>
          </a:p>
        </p:txBody>
      </p:sp>
      <p:sp>
        <p:nvSpPr>
          <p:cNvPr id="15" name="TextBox 14"/>
          <p:cNvSpPr txBox="1"/>
          <p:nvPr/>
        </p:nvSpPr>
        <p:spPr>
          <a:xfrm>
            <a:off x="6400800" y="4754880"/>
            <a:ext cx="2286000" cy="457200"/>
          </a:xfrm>
          <a:prstGeom prst="rect">
            <a:avLst/>
          </a:prstGeom>
          <a:noFill/>
        </p:spPr>
        <p:txBody>
          <a:bodyPr wrap="square">
            <a:spAutoFit/>
          </a:bodyPr>
          <a:lstStyle/>
          <a:p>
            <a:pPr algn="l">
              <a:defRPr sz="1600" b="1">
                <a:solidFill>
                  <a:srgbClr val="333333"/>
                </a:solidFill>
                <a:latin typeface="Calibri"/>
              </a:defRPr>
            </a:pPr>
            <a:r>
              <a:t>Hrishshikesh Nikam</a:t>
            </a:r>
          </a:p>
        </p:txBody>
      </p:sp>
      <p:sp>
        <p:nvSpPr>
          <p:cNvPr id="16" name="TextBox 15"/>
          <p:cNvSpPr txBox="1"/>
          <p:nvPr/>
        </p:nvSpPr>
        <p:spPr>
          <a:xfrm>
            <a:off x="8961120" y="4754880"/>
            <a:ext cx="1371600" cy="457200"/>
          </a:xfrm>
          <a:prstGeom prst="rect">
            <a:avLst/>
          </a:prstGeom>
          <a:noFill/>
        </p:spPr>
        <p:txBody>
          <a:bodyPr wrap="square">
            <a:spAutoFit/>
          </a:bodyPr>
          <a:lstStyle/>
          <a:p>
            <a:pPr algn="l">
              <a:defRPr sz="1600" b="1">
                <a:solidFill>
                  <a:srgbClr val="8B0000"/>
                </a:solidFill>
                <a:latin typeface="Calibri"/>
              </a:defRPr>
            </a:pPr>
            <a:r>
              <a:t>BTAI-31</a:t>
            </a:r>
          </a:p>
        </p:txBody>
      </p:sp>
      <p:sp>
        <p:nvSpPr>
          <p:cNvPr id="17" name="TextBox 16"/>
          <p:cNvSpPr txBox="1"/>
          <p:nvPr/>
        </p:nvSpPr>
        <p:spPr>
          <a:xfrm>
            <a:off x="1371600" y="5669280"/>
            <a:ext cx="9144000" cy="457200"/>
          </a:xfrm>
          <a:prstGeom prst="rect">
            <a:avLst/>
          </a:prstGeom>
          <a:noFill/>
        </p:spPr>
        <p:txBody>
          <a:bodyPr wrap="square">
            <a:spAutoFit/>
          </a:bodyPr>
          <a:lstStyle/>
          <a:p>
            <a:pPr algn="ctr">
              <a:defRPr sz="1300" b="0">
                <a:solidFill>
                  <a:srgbClr val="888888"/>
                </a:solidFill>
                <a:latin typeface="Calibri"/>
              </a:defRPr>
            </a:pPr>
            <a:r>
              <a:t>Department of Artificial Intelligence  |  Dr. D. Y. Patil Vidyapeeth, Pune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Problem Statement</a:t>
            </a:r>
          </a:p>
        </p:txBody>
      </p:sp>
      <p:sp>
        <p:nvSpPr>
          <p:cNvPr id="6" name="Rectangle 5"/>
          <p:cNvSpPr/>
          <p:nvPr/>
        </p:nvSpPr>
        <p:spPr>
          <a:xfrm>
            <a:off x="1645920" y="777240"/>
            <a:ext cx="22860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097280"/>
            <a:ext cx="10515600" cy="640080"/>
          </a:xfrm>
          <a:prstGeom prst="rect">
            <a:avLst/>
          </a:prstGeom>
          <a:noFill/>
        </p:spPr>
        <p:txBody>
          <a:bodyPr wrap="square">
            <a:spAutoFit/>
          </a:bodyPr>
          <a:lstStyle/>
          <a:p>
            <a:pPr algn="l">
              <a:defRPr sz="1700" b="0">
                <a:solidFill>
                  <a:srgbClr val="333333"/>
                </a:solidFill>
                <a:latin typeface="Calibri"/>
              </a:defRPr>
            </a:pPr>
            <a:r>
              <a:t>Deepfake technology has made it nearly impossible to distinguish real images from AI-generated ones with the naked eye, creating serious threats to trust, security, and privacy.</a:t>
            </a:r>
          </a:p>
        </p:txBody>
      </p:sp>
      <p:sp>
        <p:nvSpPr>
          <p:cNvPr id="8" name="Rounded Rectangle 7"/>
          <p:cNvSpPr/>
          <p:nvPr/>
        </p:nvSpPr>
        <p:spPr>
          <a:xfrm>
            <a:off x="731520" y="2011680"/>
            <a:ext cx="10515600" cy="7772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2"/>
            <a:ext cx="2743200" cy="320040"/>
          </a:xfrm>
          <a:prstGeom prst="rect">
            <a:avLst/>
          </a:prstGeom>
          <a:noFill/>
        </p:spPr>
        <p:txBody>
          <a:bodyPr wrap="square">
            <a:spAutoFit/>
          </a:bodyPr>
          <a:lstStyle/>
          <a:p>
            <a:pPr algn="l">
              <a:defRPr sz="1400" b="1">
                <a:solidFill>
                  <a:srgbClr val="8B0000"/>
                </a:solidFill>
                <a:latin typeface="Calibri"/>
              </a:defRPr>
            </a:pPr>
            <a:r>
              <a:t>Misinformation &amp; Fraud</a:t>
            </a:r>
          </a:p>
        </p:txBody>
      </p:sp>
      <p:sp>
        <p:nvSpPr>
          <p:cNvPr id="10" name="TextBox 9"/>
          <p:cNvSpPr txBox="1"/>
          <p:nvPr/>
        </p:nvSpPr>
        <p:spPr>
          <a:xfrm>
            <a:off x="1005840" y="2395728"/>
            <a:ext cx="10058400" cy="320040"/>
          </a:xfrm>
          <a:prstGeom prst="rect">
            <a:avLst/>
          </a:prstGeom>
          <a:noFill/>
        </p:spPr>
        <p:txBody>
          <a:bodyPr wrap="square">
            <a:spAutoFit/>
          </a:bodyPr>
          <a:lstStyle/>
          <a:p>
            <a:pPr algn="l">
              <a:defRPr sz="1300" b="0">
                <a:solidFill>
                  <a:srgbClr val="555555"/>
                </a:solidFill>
                <a:latin typeface="Calibri"/>
              </a:defRPr>
            </a:pPr>
            <a:r>
              <a:t>Deepfake images are used for spreading fake news, financial scams, and identity theft</a:t>
            </a:r>
          </a:p>
        </p:txBody>
      </p:sp>
      <p:sp>
        <p:nvSpPr>
          <p:cNvPr id="11" name="Rounded Rectangle 10"/>
          <p:cNvSpPr/>
          <p:nvPr/>
        </p:nvSpPr>
        <p:spPr>
          <a:xfrm>
            <a:off x="731520" y="2926080"/>
            <a:ext cx="10515600" cy="7772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999232"/>
            <a:ext cx="2743200" cy="320040"/>
          </a:xfrm>
          <a:prstGeom prst="rect">
            <a:avLst/>
          </a:prstGeom>
          <a:noFill/>
        </p:spPr>
        <p:txBody>
          <a:bodyPr wrap="square">
            <a:spAutoFit/>
          </a:bodyPr>
          <a:lstStyle/>
          <a:p>
            <a:pPr algn="l">
              <a:defRPr sz="1400" b="1">
                <a:solidFill>
                  <a:srgbClr val="8B0000"/>
                </a:solidFill>
                <a:latin typeface="Calibri"/>
              </a:defRPr>
            </a:pPr>
            <a:r>
              <a:t>Indistinguishable Fakes</a:t>
            </a:r>
          </a:p>
        </p:txBody>
      </p:sp>
      <p:sp>
        <p:nvSpPr>
          <p:cNvPr id="13" name="TextBox 12"/>
          <p:cNvSpPr txBox="1"/>
          <p:nvPr/>
        </p:nvSpPr>
        <p:spPr>
          <a:xfrm>
            <a:off x="1005840" y="3310128"/>
            <a:ext cx="10058400" cy="320040"/>
          </a:xfrm>
          <a:prstGeom prst="rect">
            <a:avLst/>
          </a:prstGeom>
          <a:noFill/>
        </p:spPr>
        <p:txBody>
          <a:bodyPr wrap="square">
            <a:spAutoFit/>
          </a:bodyPr>
          <a:lstStyle/>
          <a:p>
            <a:pPr algn="l">
              <a:defRPr sz="1300" b="0">
                <a:solidFill>
                  <a:srgbClr val="555555"/>
                </a:solidFill>
                <a:latin typeface="Calibri"/>
              </a:defRPr>
            </a:pPr>
            <a:r>
              <a:t>Modern AI (GANs, Diffusion Models) generates faces that fool even trained experts</a:t>
            </a:r>
          </a:p>
        </p:txBody>
      </p:sp>
      <p:sp>
        <p:nvSpPr>
          <p:cNvPr id="14" name="Rounded Rectangle 13"/>
          <p:cNvSpPr/>
          <p:nvPr/>
        </p:nvSpPr>
        <p:spPr>
          <a:xfrm>
            <a:off x="731520" y="3840480"/>
            <a:ext cx="10515600" cy="7772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13632"/>
            <a:ext cx="2743200" cy="320040"/>
          </a:xfrm>
          <a:prstGeom prst="rect">
            <a:avLst/>
          </a:prstGeom>
          <a:noFill/>
        </p:spPr>
        <p:txBody>
          <a:bodyPr wrap="square">
            <a:spAutoFit/>
          </a:bodyPr>
          <a:lstStyle/>
          <a:p>
            <a:pPr algn="l">
              <a:defRPr sz="1400" b="1">
                <a:solidFill>
                  <a:srgbClr val="8B0000"/>
                </a:solidFill>
                <a:latin typeface="Calibri"/>
              </a:defRPr>
            </a:pPr>
            <a:r>
              <a:t>Single-Method Weakness</a:t>
            </a:r>
          </a:p>
        </p:txBody>
      </p:sp>
      <p:sp>
        <p:nvSpPr>
          <p:cNvPr id="16" name="TextBox 15"/>
          <p:cNvSpPr txBox="1"/>
          <p:nvPr/>
        </p:nvSpPr>
        <p:spPr>
          <a:xfrm>
            <a:off x="1005840" y="4224528"/>
            <a:ext cx="10058400" cy="320040"/>
          </a:xfrm>
          <a:prstGeom prst="rect">
            <a:avLst/>
          </a:prstGeom>
          <a:noFill/>
        </p:spPr>
        <p:txBody>
          <a:bodyPr wrap="square">
            <a:spAutoFit/>
          </a:bodyPr>
          <a:lstStyle/>
          <a:p>
            <a:pPr algn="l">
              <a:defRPr sz="1300" b="0">
                <a:solidFill>
                  <a:srgbClr val="555555"/>
                </a:solidFill>
                <a:latin typeface="Calibri"/>
              </a:defRPr>
            </a:pPr>
            <a:r>
              <a:t>Existing tools use only one detection technique -- easily bypassed by attackers</a:t>
            </a:r>
          </a:p>
        </p:txBody>
      </p:sp>
      <p:sp>
        <p:nvSpPr>
          <p:cNvPr id="17" name="Rounded Rectangle 16"/>
          <p:cNvSpPr/>
          <p:nvPr/>
        </p:nvSpPr>
        <p:spPr>
          <a:xfrm>
            <a:off x="731520" y="4754880"/>
            <a:ext cx="10515600" cy="7772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828032"/>
            <a:ext cx="2743200" cy="320040"/>
          </a:xfrm>
          <a:prstGeom prst="rect">
            <a:avLst/>
          </a:prstGeom>
          <a:noFill/>
        </p:spPr>
        <p:txBody>
          <a:bodyPr wrap="square">
            <a:spAutoFit/>
          </a:bodyPr>
          <a:lstStyle/>
          <a:p>
            <a:pPr algn="l">
              <a:defRPr sz="1400" b="1">
                <a:solidFill>
                  <a:srgbClr val="8B0000"/>
                </a:solidFill>
                <a:latin typeface="Calibri"/>
              </a:defRPr>
            </a:pPr>
            <a:r>
              <a:t>No Explainability</a:t>
            </a:r>
          </a:p>
        </p:txBody>
      </p:sp>
      <p:sp>
        <p:nvSpPr>
          <p:cNvPr id="19" name="TextBox 18"/>
          <p:cNvSpPr txBox="1"/>
          <p:nvPr/>
        </p:nvSpPr>
        <p:spPr>
          <a:xfrm>
            <a:off x="1005840" y="5138928"/>
            <a:ext cx="10058400" cy="320040"/>
          </a:xfrm>
          <a:prstGeom prst="rect">
            <a:avLst/>
          </a:prstGeom>
          <a:noFill/>
        </p:spPr>
        <p:txBody>
          <a:bodyPr wrap="square">
            <a:spAutoFit/>
          </a:bodyPr>
          <a:lstStyle/>
          <a:p>
            <a:pPr algn="l">
              <a:defRPr sz="1300" b="0">
                <a:solidFill>
                  <a:srgbClr val="555555"/>
                </a:solidFill>
                <a:latin typeface="Calibri"/>
              </a:defRPr>
            </a:pPr>
            <a:r>
              <a:t>Current systems provide a verdict but never explain WHY an image is flagged</a:t>
            </a:r>
          </a:p>
        </p:txBody>
      </p:sp>
      <p:sp>
        <p:nvSpPr>
          <p:cNvPr id="20" name="Rounded Rectangle 19"/>
          <p:cNvSpPr/>
          <p:nvPr/>
        </p:nvSpPr>
        <p:spPr>
          <a:xfrm>
            <a:off x="731520" y="5669280"/>
            <a:ext cx="10515600" cy="77724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742432"/>
            <a:ext cx="2743200" cy="320040"/>
          </a:xfrm>
          <a:prstGeom prst="rect">
            <a:avLst/>
          </a:prstGeom>
          <a:noFill/>
        </p:spPr>
        <p:txBody>
          <a:bodyPr wrap="square">
            <a:spAutoFit/>
          </a:bodyPr>
          <a:lstStyle/>
          <a:p>
            <a:pPr algn="l">
              <a:defRPr sz="1400" b="1">
                <a:solidFill>
                  <a:srgbClr val="8B0000"/>
                </a:solidFill>
                <a:latin typeface="Calibri"/>
              </a:defRPr>
            </a:pPr>
            <a:r>
              <a:t>Growing Threat</a:t>
            </a:r>
          </a:p>
        </p:txBody>
      </p:sp>
      <p:sp>
        <p:nvSpPr>
          <p:cNvPr id="22" name="TextBox 21"/>
          <p:cNvSpPr txBox="1"/>
          <p:nvPr/>
        </p:nvSpPr>
        <p:spPr>
          <a:xfrm>
            <a:off x="1005840" y="6053328"/>
            <a:ext cx="10058400" cy="320040"/>
          </a:xfrm>
          <a:prstGeom prst="rect">
            <a:avLst/>
          </a:prstGeom>
          <a:noFill/>
        </p:spPr>
        <p:txBody>
          <a:bodyPr wrap="square">
            <a:spAutoFit/>
          </a:bodyPr>
          <a:lstStyle/>
          <a:p>
            <a:pPr algn="l">
              <a:defRPr sz="1300" b="0">
                <a:solidFill>
                  <a:srgbClr val="555555"/>
                </a:solidFill>
                <a:latin typeface="Calibri"/>
              </a:defRPr>
            </a:pPr>
            <a:r>
              <a:t>Deepfake generation tools are free and accessible, making the problem worse every 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Our Solution: Social Guard AI</a:t>
            </a:r>
          </a:p>
        </p:txBody>
      </p:sp>
      <p:sp>
        <p:nvSpPr>
          <p:cNvPr id="6" name="Rectangle 5"/>
          <p:cNvSpPr/>
          <p:nvPr/>
        </p:nvSpPr>
        <p:spPr>
          <a:xfrm>
            <a:off x="1645920" y="777240"/>
            <a:ext cx="27432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097280"/>
            <a:ext cx="10515600" cy="548640"/>
          </a:xfrm>
          <a:prstGeom prst="rect">
            <a:avLst/>
          </a:prstGeom>
          <a:noFill/>
        </p:spPr>
        <p:txBody>
          <a:bodyPr wrap="square">
            <a:spAutoFit/>
          </a:bodyPr>
          <a:lstStyle/>
          <a:p>
            <a:pPr algn="l">
              <a:defRPr sz="1600" b="0">
                <a:solidFill>
                  <a:srgbClr val="333333"/>
                </a:solidFill>
                <a:latin typeface="Calibri"/>
              </a:defRPr>
            </a:pPr>
            <a:r>
              <a:t>A multi-layered deepfake detection platform with 4 independent analysis methods working together, providing both accurate detection and clear explanations.</a:t>
            </a:r>
          </a:p>
        </p:txBody>
      </p:sp>
      <p:sp>
        <p:nvSpPr>
          <p:cNvPr id="8" name="Rounded Rectangle 7"/>
          <p:cNvSpPr/>
          <p:nvPr/>
        </p:nvSpPr>
        <p:spPr>
          <a:xfrm>
            <a:off x="457200" y="2011680"/>
            <a:ext cx="2560320" cy="3749039"/>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94360" y="2148840"/>
            <a:ext cx="411480" cy="411480"/>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10" name="TextBox 9"/>
          <p:cNvSpPr txBox="1"/>
          <p:nvPr/>
        </p:nvSpPr>
        <p:spPr>
          <a:xfrm>
            <a:off x="1097280" y="2148840"/>
            <a:ext cx="1645920" cy="365760"/>
          </a:xfrm>
          <a:prstGeom prst="rect">
            <a:avLst/>
          </a:prstGeom>
          <a:noFill/>
        </p:spPr>
        <p:txBody>
          <a:bodyPr wrap="square">
            <a:spAutoFit/>
          </a:bodyPr>
          <a:lstStyle/>
          <a:p>
            <a:pPr algn="l">
              <a:defRPr sz="1800" b="1">
                <a:solidFill>
                  <a:srgbClr val="1A73E8"/>
                </a:solidFill>
                <a:latin typeface="Calibri"/>
              </a:defRPr>
            </a:pPr>
            <a:r>
              <a:t>ELA</a:t>
            </a:r>
          </a:p>
        </p:txBody>
      </p:sp>
      <p:sp>
        <p:nvSpPr>
          <p:cNvPr id="11" name="TextBox 10"/>
          <p:cNvSpPr txBox="1"/>
          <p:nvPr/>
        </p:nvSpPr>
        <p:spPr>
          <a:xfrm>
            <a:off x="594360" y="2606040"/>
            <a:ext cx="2286000" cy="320040"/>
          </a:xfrm>
          <a:prstGeom prst="rect">
            <a:avLst/>
          </a:prstGeom>
          <a:noFill/>
        </p:spPr>
        <p:txBody>
          <a:bodyPr wrap="square">
            <a:spAutoFit/>
          </a:bodyPr>
          <a:lstStyle/>
          <a:p>
            <a:pPr algn="l">
              <a:defRPr sz="1200" b="0">
                <a:solidFill>
                  <a:srgbClr val="888888"/>
                </a:solidFill>
                <a:latin typeface="Calibri"/>
              </a:defRPr>
            </a:pPr>
            <a:r>
              <a:t>Error Level Analysis</a:t>
            </a:r>
          </a:p>
        </p:txBody>
      </p:sp>
      <p:sp>
        <p:nvSpPr>
          <p:cNvPr id="12" name="Rectangle 11"/>
          <p:cNvSpPr/>
          <p:nvPr/>
        </p:nvSpPr>
        <p:spPr>
          <a:xfrm>
            <a:off x="594360" y="2926080"/>
            <a:ext cx="2286000" cy="381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108960"/>
            <a:ext cx="2286000" cy="2286000"/>
          </a:xfrm>
          <a:prstGeom prst="rect">
            <a:avLst/>
          </a:prstGeom>
          <a:noFill/>
        </p:spPr>
        <p:txBody>
          <a:bodyPr wrap="square">
            <a:spAutoFit/>
          </a:bodyPr>
          <a:lstStyle/>
          <a:p>
            <a:pPr algn="l">
              <a:defRPr sz="1300" b="0">
                <a:solidFill>
                  <a:srgbClr val="555555"/>
                </a:solidFill>
                <a:latin typeface="Calibri"/>
              </a:defRPr>
            </a:pPr>
            <a:r>
              <a:t>Detects compression inconsistencies.</a:t>
            </a:r>
            <a:br/>
            <a:r>
              <a:t>Manipulated regions have different</a:t>
            </a:r>
            <a:br/>
            <a:r>
              <a:t>JPEG error levels than the original.</a:t>
            </a:r>
          </a:p>
        </p:txBody>
      </p:sp>
      <p:sp>
        <p:nvSpPr>
          <p:cNvPr id="14" name="Rounded Rectangle 13"/>
          <p:cNvSpPr/>
          <p:nvPr/>
        </p:nvSpPr>
        <p:spPr>
          <a:xfrm>
            <a:off x="3246120" y="2011680"/>
            <a:ext cx="2560320" cy="3749039"/>
          </a:xfrm>
          <a:prstGeom prst="roundRect">
            <a:avLst/>
          </a:prstGeom>
          <a:solidFill>
            <a:srgbClr val="F8F9FA"/>
          </a:solidFill>
          <a:ln w="12700">
            <a:solidFill>
              <a:srgbClr val="6C3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383280" y="2148840"/>
            <a:ext cx="411480" cy="411480"/>
          </a:xfrm>
          <a:prstGeom prst="ellipse">
            <a:avLst/>
          </a:prstGeom>
          <a:solidFill>
            <a:srgbClr val="6C3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6" name="TextBox 15"/>
          <p:cNvSpPr txBox="1"/>
          <p:nvPr/>
        </p:nvSpPr>
        <p:spPr>
          <a:xfrm>
            <a:off x="3886200" y="2148840"/>
            <a:ext cx="1645920" cy="365760"/>
          </a:xfrm>
          <a:prstGeom prst="rect">
            <a:avLst/>
          </a:prstGeom>
          <a:noFill/>
        </p:spPr>
        <p:txBody>
          <a:bodyPr wrap="square">
            <a:spAutoFit/>
          </a:bodyPr>
          <a:lstStyle/>
          <a:p>
            <a:pPr algn="l">
              <a:defRPr sz="1800" b="1">
                <a:solidFill>
                  <a:srgbClr val="6C3CB0"/>
                </a:solidFill>
                <a:latin typeface="Calibri"/>
              </a:defRPr>
            </a:pPr>
            <a:r>
              <a:t>DCT</a:t>
            </a:r>
          </a:p>
        </p:txBody>
      </p:sp>
      <p:sp>
        <p:nvSpPr>
          <p:cNvPr id="17" name="TextBox 16"/>
          <p:cNvSpPr txBox="1"/>
          <p:nvPr/>
        </p:nvSpPr>
        <p:spPr>
          <a:xfrm>
            <a:off x="3383280" y="2606040"/>
            <a:ext cx="2286000" cy="320040"/>
          </a:xfrm>
          <a:prstGeom prst="rect">
            <a:avLst/>
          </a:prstGeom>
          <a:noFill/>
        </p:spPr>
        <p:txBody>
          <a:bodyPr wrap="square">
            <a:spAutoFit/>
          </a:bodyPr>
          <a:lstStyle/>
          <a:p>
            <a:pPr algn="l">
              <a:defRPr sz="1200" b="0">
                <a:solidFill>
                  <a:srgbClr val="888888"/>
                </a:solidFill>
                <a:latin typeface="Calibri"/>
              </a:defRPr>
            </a:pPr>
            <a:r>
              <a:t>Frequency Analysis</a:t>
            </a:r>
          </a:p>
        </p:txBody>
      </p:sp>
      <p:sp>
        <p:nvSpPr>
          <p:cNvPr id="18" name="Rectangle 17"/>
          <p:cNvSpPr/>
          <p:nvPr/>
        </p:nvSpPr>
        <p:spPr>
          <a:xfrm>
            <a:off x="3383280" y="2926080"/>
            <a:ext cx="2286000" cy="38100"/>
          </a:xfrm>
          <a:prstGeom prst="rect">
            <a:avLst/>
          </a:prstGeom>
          <a:solidFill>
            <a:srgbClr val="6C3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83280" y="3108960"/>
            <a:ext cx="2286000" cy="2286000"/>
          </a:xfrm>
          <a:prstGeom prst="rect">
            <a:avLst/>
          </a:prstGeom>
          <a:noFill/>
        </p:spPr>
        <p:txBody>
          <a:bodyPr wrap="square">
            <a:spAutoFit/>
          </a:bodyPr>
          <a:lstStyle/>
          <a:p>
            <a:pPr algn="l">
              <a:defRPr sz="1300" b="0">
                <a:solidFill>
                  <a:srgbClr val="555555"/>
                </a:solidFill>
                <a:latin typeface="Calibri"/>
              </a:defRPr>
            </a:pPr>
            <a:r>
              <a:t>Converts image to frequency domain.</a:t>
            </a:r>
            <a:br/>
            <a:r>
              <a:t>AI-generated images have abnormal</a:t>
            </a:r>
            <a:br/>
            <a:r>
              <a:t>frequency patterns (GAN fingerprints).</a:t>
            </a:r>
          </a:p>
        </p:txBody>
      </p:sp>
      <p:sp>
        <p:nvSpPr>
          <p:cNvPr id="20" name="Rounded Rectangle 19"/>
          <p:cNvSpPr/>
          <p:nvPr/>
        </p:nvSpPr>
        <p:spPr>
          <a:xfrm>
            <a:off x="6035040" y="2011680"/>
            <a:ext cx="2560320" cy="3749039"/>
          </a:xfrm>
          <a:prstGeom prst="roundRect">
            <a:avLst/>
          </a:prstGeom>
          <a:solidFill>
            <a:srgbClr val="F8F9F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172200" y="2148840"/>
            <a:ext cx="411480" cy="41148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22" name="TextBox 21"/>
          <p:cNvSpPr txBox="1"/>
          <p:nvPr/>
        </p:nvSpPr>
        <p:spPr>
          <a:xfrm>
            <a:off x="6675120" y="2148840"/>
            <a:ext cx="1645920" cy="365760"/>
          </a:xfrm>
          <a:prstGeom prst="rect">
            <a:avLst/>
          </a:prstGeom>
          <a:noFill/>
        </p:spPr>
        <p:txBody>
          <a:bodyPr wrap="square">
            <a:spAutoFit/>
          </a:bodyPr>
          <a:lstStyle/>
          <a:p>
            <a:pPr algn="l">
              <a:defRPr sz="1800" b="1">
                <a:solidFill>
                  <a:srgbClr val="E67E22"/>
                </a:solidFill>
                <a:latin typeface="Calibri"/>
              </a:defRPr>
            </a:pPr>
            <a:r>
              <a:t>Face Forensics</a:t>
            </a:r>
          </a:p>
        </p:txBody>
      </p:sp>
      <p:sp>
        <p:nvSpPr>
          <p:cNvPr id="23" name="TextBox 22"/>
          <p:cNvSpPr txBox="1"/>
          <p:nvPr/>
        </p:nvSpPr>
        <p:spPr>
          <a:xfrm>
            <a:off x="6172200" y="2606040"/>
            <a:ext cx="2286000" cy="320040"/>
          </a:xfrm>
          <a:prstGeom prst="rect">
            <a:avLst/>
          </a:prstGeom>
          <a:noFill/>
        </p:spPr>
        <p:txBody>
          <a:bodyPr wrap="square">
            <a:spAutoFit/>
          </a:bodyPr>
          <a:lstStyle/>
          <a:p>
            <a:pPr algn="l">
              <a:defRPr sz="1200" b="0">
                <a:solidFill>
                  <a:srgbClr val="888888"/>
                </a:solidFill>
                <a:latin typeface="Calibri"/>
              </a:defRPr>
            </a:pPr>
            <a:r>
              <a:t>Biometric Analysis</a:t>
            </a:r>
          </a:p>
        </p:txBody>
      </p:sp>
      <p:sp>
        <p:nvSpPr>
          <p:cNvPr id="24" name="Rectangle 23"/>
          <p:cNvSpPr/>
          <p:nvPr/>
        </p:nvSpPr>
        <p:spPr>
          <a:xfrm>
            <a:off x="6172200" y="2926080"/>
            <a:ext cx="2286000" cy="381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3108960"/>
            <a:ext cx="2286000" cy="2286000"/>
          </a:xfrm>
          <a:prstGeom prst="rect">
            <a:avLst/>
          </a:prstGeom>
          <a:noFill/>
        </p:spPr>
        <p:txBody>
          <a:bodyPr wrap="square">
            <a:spAutoFit/>
          </a:bodyPr>
          <a:lstStyle/>
          <a:p>
            <a:pPr algn="l">
              <a:defRPr sz="1300" b="0">
                <a:solidFill>
                  <a:srgbClr val="555555"/>
                </a:solidFill>
                <a:latin typeface="Calibri"/>
              </a:defRPr>
            </a:pPr>
            <a:r>
              <a:t>Checks eye reflections, facial symmetry,</a:t>
            </a:r>
            <a:br/>
            <a:r>
              <a:t>boundary blending, and skin texture.</a:t>
            </a:r>
            <a:br/>
            <a:r>
              <a:t>AI fails at biological accuracy.</a:t>
            </a:r>
          </a:p>
        </p:txBody>
      </p:sp>
      <p:sp>
        <p:nvSpPr>
          <p:cNvPr id="26" name="Rounded Rectangle 25"/>
          <p:cNvSpPr/>
          <p:nvPr/>
        </p:nvSpPr>
        <p:spPr>
          <a:xfrm>
            <a:off x="8823960" y="2011680"/>
            <a:ext cx="2560320" cy="3749039"/>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961120" y="2148840"/>
            <a:ext cx="411480" cy="411480"/>
          </a:xfrm>
          <a:prstGeom prst="ellipse">
            <a:avLst/>
          </a:prstGeom>
          <a:solidFill>
            <a:srgbClr val="0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28" name="TextBox 27"/>
          <p:cNvSpPr txBox="1"/>
          <p:nvPr/>
        </p:nvSpPr>
        <p:spPr>
          <a:xfrm>
            <a:off x="9464040" y="2148840"/>
            <a:ext cx="1645920" cy="365760"/>
          </a:xfrm>
          <a:prstGeom prst="rect">
            <a:avLst/>
          </a:prstGeom>
          <a:noFill/>
        </p:spPr>
        <p:txBody>
          <a:bodyPr wrap="square">
            <a:spAutoFit/>
          </a:bodyPr>
          <a:lstStyle/>
          <a:p>
            <a:pPr algn="l">
              <a:defRPr sz="1800" b="1">
                <a:solidFill>
                  <a:srgbClr val="0D8A4E"/>
                </a:solidFill>
                <a:latin typeface="Calibri"/>
              </a:defRPr>
            </a:pPr>
            <a:r>
              <a:t>EfficientNet-B0</a:t>
            </a:r>
          </a:p>
        </p:txBody>
      </p:sp>
      <p:sp>
        <p:nvSpPr>
          <p:cNvPr id="29" name="TextBox 28"/>
          <p:cNvSpPr txBox="1"/>
          <p:nvPr/>
        </p:nvSpPr>
        <p:spPr>
          <a:xfrm>
            <a:off x="8961120" y="2606040"/>
            <a:ext cx="2286000" cy="320040"/>
          </a:xfrm>
          <a:prstGeom prst="rect">
            <a:avLst/>
          </a:prstGeom>
          <a:noFill/>
        </p:spPr>
        <p:txBody>
          <a:bodyPr wrap="square">
            <a:spAutoFit/>
          </a:bodyPr>
          <a:lstStyle/>
          <a:p>
            <a:pPr algn="l">
              <a:defRPr sz="1200" b="0">
                <a:solidFill>
                  <a:srgbClr val="888888"/>
                </a:solidFill>
                <a:latin typeface="Calibri"/>
              </a:defRPr>
            </a:pPr>
            <a:r>
              <a:t>Deep Learning (CNN)</a:t>
            </a:r>
          </a:p>
        </p:txBody>
      </p:sp>
      <p:sp>
        <p:nvSpPr>
          <p:cNvPr id="30" name="Rectangle 29"/>
          <p:cNvSpPr/>
          <p:nvPr/>
        </p:nvSpPr>
        <p:spPr>
          <a:xfrm>
            <a:off x="8961120" y="2926080"/>
            <a:ext cx="2286000" cy="38100"/>
          </a:xfrm>
          <a:prstGeom prst="rect">
            <a:avLst/>
          </a:prstGeom>
          <a:solidFill>
            <a:srgbClr val="0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0" y="3108960"/>
            <a:ext cx="2286000" cy="2286000"/>
          </a:xfrm>
          <a:prstGeom prst="rect">
            <a:avLst/>
          </a:prstGeom>
          <a:noFill/>
        </p:spPr>
        <p:txBody>
          <a:bodyPr wrap="square">
            <a:spAutoFit/>
          </a:bodyPr>
          <a:lstStyle/>
          <a:p>
            <a:pPr algn="l">
              <a:defRPr sz="1300" b="0">
                <a:solidFill>
                  <a:srgbClr val="555555"/>
                </a:solidFill>
                <a:latin typeface="Calibri"/>
              </a:defRPr>
            </a:pPr>
            <a:r>
              <a:t>Custom-trained on 190K+ images.</a:t>
            </a:r>
            <a:br/>
            <a:r>
              <a:t>Learns patterns invisible to humans.</a:t>
            </a:r>
            <a:br/>
            <a:r>
              <a:t>80% weight in final decision.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System Architecture</a:t>
            </a:r>
          </a:p>
        </p:txBody>
      </p:sp>
      <p:sp>
        <p:nvSpPr>
          <p:cNvPr id="6" name="Rectangle 5"/>
          <p:cNvSpPr/>
          <p:nvPr/>
        </p:nvSpPr>
        <p:spPr>
          <a:xfrm>
            <a:off x="1645920" y="777240"/>
            <a:ext cx="22860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5760720" cy="530352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303520" cy="365760"/>
          </a:xfrm>
          <a:prstGeom prst="rect">
            <a:avLst/>
          </a:prstGeom>
          <a:noFill/>
        </p:spPr>
        <p:txBody>
          <a:bodyPr wrap="square">
            <a:spAutoFit/>
          </a:bodyPr>
          <a:lstStyle/>
          <a:p>
            <a:pPr algn="l">
              <a:defRPr sz="1800" b="1">
                <a:solidFill>
                  <a:srgbClr val="8B0000"/>
                </a:solidFill>
                <a:latin typeface="Calibri"/>
              </a:defRPr>
            </a:pPr>
            <a:r>
              <a:t>Data Flow Pipeline</a:t>
            </a:r>
          </a:p>
        </p:txBody>
      </p:sp>
      <p:sp>
        <p:nvSpPr>
          <p:cNvPr id="9" name="TextBox 8"/>
          <p:cNvSpPr txBox="1"/>
          <p:nvPr/>
        </p:nvSpPr>
        <p:spPr>
          <a:xfrm>
            <a:off x="640080" y="1645920"/>
            <a:ext cx="5303520" cy="4572000"/>
          </a:xfrm>
          <a:prstGeom prst="rect">
            <a:avLst/>
          </a:prstGeom>
          <a:noFill/>
        </p:spPr>
        <p:txBody>
          <a:bodyPr wrap="square">
            <a:spAutoFit/>
          </a:bodyPr>
          <a:lstStyle/>
          <a:p>
            <a:pPr algn="l">
              <a:defRPr sz="1400" b="0">
                <a:solidFill>
                  <a:srgbClr val="555555"/>
                </a:solidFill>
                <a:latin typeface="Consolas"/>
              </a:defRPr>
            </a:pPr>
            <a:r>
              <a:t>  User Uploads Image (Web Frontend)</a:t>
            </a:r>
            <a:br/>
            <a:r>
              <a:t>              |</a:t>
            </a:r>
            <a:br/>
            <a:r>
              <a:t>     FastAPI Backend (main.py)</a:t>
            </a:r>
            <a:br/>
            <a:r>
              <a:t>              |</a:t>
            </a:r>
            <a:br/>
            <a:r>
              <a:t>    +---------+---------+---------+</a:t>
            </a:r>
            <a:br/>
            <a:r>
              <a:t>    |         |         |         |</a:t>
            </a:r>
            <a:br/>
            <a:r>
              <a:t>   ELA      DCT      Face     EfficientNet</a:t>
            </a:r>
            <a:br/>
            <a:r>
              <a:t> Analysis  Analysis  Forensics  B0 Model</a:t>
            </a:r>
            <a:br/>
            <a:r>
              <a:t>    |         |         |         |</a:t>
            </a:r>
            <a:br/>
            <a:r>
              <a:t>    +---------+---------+---------+</a:t>
            </a:r>
            <a:br/>
            <a:r>
              <a:t>              |</a:t>
            </a:r>
            <a:br/>
            <a:r>
              <a:t>    Classifier (80/20 Score Fusion)</a:t>
            </a:r>
            <a:br/>
            <a:r>
              <a:t>              |</a:t>
            </a:r>
            <a:br/>
            <a:r>
              <a:t>    Grad-CAM Heatmap + XAI Report</a:t>
            </a:r>
            <a:br/>
            <a:r>
              <a:t>              |</a:t>
            </a:r>
            <a:br/>
            <a:r>
              <a:t>    JSON Response --&gt; Frontend Display</a:t>
            </a:r>
            <a:br/>
            <a:r>
              <a:t>    (Verdict + Confidence + Explanation)</a:t>
            </a:r>
          </a:p>
        </p:txBody>
      </p:sp>
      <p:sp>
        <p:nvSpPr>
          <p:cNvPr id="10" name="Rounded Rectangle 9"/>
          <p:cNvSpPr/>
          <p:nvPr/>
        </p:nvSpPr>
        <p:spPr>
          <a:xfrm>
            <a:off x="6583680" y="1097280"/>
            <a:ext cx="5029200" cy="5303520"/>
          </a:xfrm>
          <a:prstGeom prst="round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188720"/>
            <a:ext cx="4572000" cy="365760"/>
          </a:xfrm>
          <a:prstGeom prst="rect">
            <a:avLst/>
          </a:prstGeom>
          <a:noFill/>
        </p:spPr>
        <p:txBody>
          <a:bodyPr wrap="square">
            <a:spAutoFit/>
          </a:bodyPr>
          <a:lstStyle/>
          <a:p>
            <a:pPr algn="l">
              <a:defRPr sz="1800" b="1">
                <a:solidFill>
                  <a:srgbClr val="8B0000"/>
                </a:solidFill>
                <a:latin typeface="Calibri"/>
              </a:defRPr>
            </a:pPr>
            <a:r>
              <a:t>Technology Stack</a:t>
            </a:r>
          </a:p>
        </p:txBody>
      </p:sp>
      <p:sp>
        <p:nvSpPr>
          <p:cNvPr id="12" name="TextBox 11"/>
          <p:cNvSpPr txBox="1"/>
          <p:nvPr/>
        </p:nvSpPr>
        <p:spPr>
          <a:xfrm>
            <a:off x="6766560" y="1645920"/>
            <a:ext cx="4572000" cy="4572000"/>
          </a:xfrm>
          <a:prstGeom prst="rect">
            <a:avLst/>
          </a:prstGeom>
          <a:noFill/>
        </p:spPr>
        <p:txBody>
          <a:bodyPr wrap="square">
            <a:spAutoFit/>
          </a:bodyPr>
          <a:lstStyle/>
          <a:p>
            <a:pPr>
              <a:spcAft>
                <a:spcPts val="400"/>
              </a:spcAft>
              <a:defRPr sz="1100">
                <a:solidFill>
                  <a:srgbClr val="555555"/>
                </a:solidFill>
                <a:latin typeface="Calibri"/>
              </a:defRPr>
            </a:pPr>
            <a:r>
              <a:t>Backend:        Python 3.10 + FastAPI + Uvicorn</a:t>
            </a:r>
          </a:p>
          <a:p>
            <a:pPr>
              <a:spcAft>
                <a:spcPts val="400"/>
              </a:spcAft>
              <a:defRPr sz="1100">
                <a:solidFill>
                  <a:srgbClr val="555555"/>
                </a:solidFill>
                <a:latin typeface="Calibri"/>
              </a:defRPr>
            </a:pPr>
            <a:r>
              <a:t>Deep Learning:   PyTorch + torchvision</a:t>
            </a:r>
          </a:p>
          <a:p>
            <a:pPr>
              <a:spcAft>
                <a:spcPts val="400"/>
              </a:spcAft>
              <a:defRPr sz="1100">
                <a:solidFill>
                  <a:srgbClr val="555555"/>
                </a:solidFill>
                <a:latin typeface="Calibri"/>
              </a:defRPr>
            </a:pPr>
            <a:r>
              <a:t>CNN Model:       EfficientNet-B0 (4M params, 15.6MB)</a:t>
            </a:r>
          </a:p>
          <a:p>
            <a:pPr>
              <a:spcAft>
                <a:spcPts val="400"/>
              </a:spcAft>
              <a:defRPr sz="1100">
                <a:solidFill>
                  <a:srgbClr val="555555"/>
                </a:solidFill>
                <a:latin typeface="Calibri"/>
              </a:defRPr>
            </a:pPr>
            <a:r>
              <a:t>Image Processing: OpenCV + Pillow</a:t>
            </a:r>
          </a:p>
          <a:p>
            <a:pPr>
              <a:spcAft>
                <a:spcPts val="400"/>
              </a:spcAft>
              <a:defRPr sz="1100">
                <a:solidFill>
                  <a:srgbClr val="555555"/>
                </a:solidFill>
                <a:latin typeface="Calibri"/>
              </a:defRPr>
            </a:pPr>
            <a:r>
              <a:t>Face Detection:  MediaPipe (468 landmarks)</a:t>
            </a:r>
          </a:p>
          <a:p>
            <a:pPr>
              <a:spcAft>
                <a:spcPts val="400"/>
              </a:spcAft>
              <a:defRPr sz="1100">
                <a:solidFill>
                  <a:srgbClr val="555555"/>
                </a:solidFill>
                <a:latin typeface="Calibri"/>
              </a:defRPr>
            </a:pPr>
            <a:r>
              <a:t>Frontend:        HTML5 + CSS3 + JavaScript</a:t>
            </a:r>
          </a:p>
          <a:p>
            <a:pPr>
              <a:spcAft>
                <a:spcPts val="400"/>
              </a:spcAft>
              <a:defRPr sz="1100">
                <a:solidFill>
                  <a:srgbClr val="555555"/>
                </a:solidFill>
                <a:latin typeface="Calibri"/>
              </a:defRPr>
            </a:pPr>
            <a:r>
              <a:t>Explainability:  Grad-CAM (gradient-based)</a:t>
            </a:r>
          </a:p>
          <a:p>
            <a:pPr>
              <a:spcAft>
                <a:spcPts val="400"/>
              </a:spcAft>
              <a:defRPr sz="1100">
                <a:solidFill>
                  <a:srgbClr val="555555"/>
                </a:solidFill>
                <a:latin typeface="Calibri"/>
              </a:defRPr>
            </a:pPr>
            <a:r>
              <a:t>Training:        Transfer Learning (ImageNet)</a:t>
            </a:r>
          </a:p>
          <a:p>
            <a:pPr>
              <a:spcAft>
                <a:spcPts val="400"/>
              </a:spcAft>
              <a:defRPr sz="1100">
                <a:solidFill>
                  <a:srgbClr val="555555"/>
                </a:solidFill>
                <a:latin typeface="Calibri"/>
              </a:defRPr>
            </a:pPr>
            <a:r>
              <a:t>Loss Function:   CrossEntropyLoss</a:t>
            </a:r>
          </a:p>
          <a:p>
            <a:pPr>
              <a:spcAft>
                <a:spcPts val="400"/>
              </a:spcAft>
              <a:defRPr sz="1100">
                <a:solidFill>
                  <a:srgbClr val="555555"/>
                </a:solidFill>
                <a:latin typeface="Calibri"/>
              </a:defRPr>
            </a:pPr>
            <a:r>
              <a:t>Optimizer:       Adam (adaptive LR)</a:t>
            </a:r>
          </a:p>
          <a:p>
            <a:pPr>
              <a:spcAft>
                <a:spcPts val="400"/>
              </a:spcAft>
              <a:defRPr sz="1100">
                <a:solidFill>
                  <a:srgbClr val="555555"/>
                </a:solidFill>
                <a:latin typeface="Calibri"/>
              </a:defRPr>
            </a:pPr>
          </a:p>
          <a:p>
            <a:pPr>
              <a:spcAft>
                <a:spcPts val="400"/>
              </a:spcAft>
              <a:defRPr sz="1100">
                <a:solidFill>
                  <a:srgbClr val="555555"/>
                </a:solidFill>
                <a:latin typeface="Calibri"/>
              </a:defRPr>
            </a:pPr>
            <a:r>
              <a:t>Project Structure:</a:t>
            </a:r>
          </a:p>
          <a:p>
            <a:pPr>
              <a:spcAft>
                <a:spcPts val="400"/>
              </a:spcAft>
              <a:defRPr sz="1100">
                <a:solidFill>
                  <a:srgbClr val="555555"/>
                </a:solidFill>
                <a:latin typeface="Calibri"/>
              </a:defRPr>
            </a:pPr>
            <a:r>
              <a:t>  backend/main.py          - API endpoints</a:t>
            </a:r>
          </a:p>
          <a:p>
            <a:pPr>
              <a:spcAft>
                <a:spcPts val="400"/>
              </a:spcAft>
              <a:defRPr sz="1100">
                <a:solidFill>
                  <a:srgbClr val="555555"/>
                </a:solidFill>
                <a:latin typeface="Calibri"/>
              </a:defRPr>
            </a:pPr>
            <a:r>
              <a:t>  backend/analyzers/ela.py - Error Level Analysis</a:t>
            </a:r>
          </a:p>
          <a:p>
            <a:pPr>
              <a:spcAft>
                <a:spcPts val="400"/>
              </a:spcAft>
              <a:defRPr sz="1100">
                <a:solidFill>
                  <a:srgbClr val="555555"/>
                </a:solidFill>
                <a:latin typeface="Calibri"/>
              </a:defRPr>
            </a:pPr>
            <a:r>
              <a:t>  backend/analyzers/dct.py - Frequency Analysis</a:t>
            </a:r>
          </a:p>
          <a:p>
            <a:pPr>
              <a:spcAft>
                <a:spcPts val="400"/>
              </a:spcAft>
              <a:defRPr sz="1100">
                <a:solidFill>
                  <a:srgbClr val="555555"/>
                </a:solidFill>
                <a:latin typeface="Calibri"/>
              </a:defRPr>
            </a:pPr>
            <a:r>
              <a:t>  backend/analyzers/face_forensics.py</a:t>
            </a:r>
          </a:p>
          <a:p>
            <a:pPr>
              <a:spcAft>
                <a:spcPts val="400"/>
              </a:spcAft>
              <a:defRPr sz="1100">
                <a:solidFill>
                  <a:srgbClr val="555555"/>
                </a:solidFill>
                <a:latin typeface="Calibri"/>
              </a:defRPr>
            </a:pPr>
            <a:r>
              <a:t>  backend/analyzers/classifier.py - Fusion</a:t>
            </a:r>
          </a:p>
          <a:p>
            <a:pPr>
              <a:spcAft>
                <a:spcPts val="400"/>
              </a:spcAft>
              <a:defRPr sz="1100">
                <a:solidFill>
                  <a:srgbClr val="555555"/>
                </a:solidFill>
                <a:latin typeface="Calibri"/>
              </a:defRPr>
            </a:pPr>
            <a:r>
              <a:t>  backend/analyzers/model_loader.py - CNN</a:t>
            </a:r>
          </a:p>
          <a:p>
            <a:pPr>
              <a:spcAft>
                <a:spcPts val="400"/>
              </a:spcAft>
              <a:defRPr sz="1100">
                <a:solidFill>
                  <a:srgbClr val="555555"/>
                </a:solidFill>
                <a:latin typeface="Calibri"/>
              </a:defRPr>
            </a:pPr>
            <a:r>
              <a:t>  backend/models/efficientnet_deepfake.pth</a:t>
            </a:r>
          </a:p>
          <a:p>
            <a:pPr>
              <a:spcAft>
                <a:spcPts val="400"/>
              </a:spcAft>
              <a:defRPr sz="1100">
                <a:solidFill>
                  <a:srgbClr val="555555"/>
                </a:solidFill>
                <a:latin typeface="Calibri"/>
              </a:defRPr>
            </a:pPr>
            <a:r>
              <a:t>  frontend/ - Web Interface</a:t>
            </a:r>
          </a:p>
          <a:p>
            <a:pPr>
              <a:spcAft>
                <a:spcPts val="400"/>
              </a:spcAft>
              <a:defRPr sz="1100">
                <a:solidFill>
                  <a:srgbClr val="555555"/>
                </a:solidFill>
                <a:latin typeface="Calibri"/>
              </a:defRPr>
            </a:pPr>
            <a:r>
              <a:t>  train_model.py - Training Script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Layer 1: Error Level Analysis (ELA)</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6400800" cy="530352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943600" cy="365760"/>
          </a:xfrm>
          <a:prstGeom prst="rect">
            <a:avLst/>
          </a:prstGeom>
          <a:noFill/>
        </p:spPr>
        <p:txBody>
          <a:bodyPr wrap="square">
            <a:spAutoFit/>
          </a:bodyPr>
          <a:lstStyle/>
          <a:p>
            <a:pPr algn="l">
              <a:defRPr sz="1800" b="1">
                <a:solidFill>
                  <a:srgbClr val="1A73E8"/>
                </a:solidFill>
                <a:latin typeface="Calibri"/>
              </a:defRPr>
            </a:pPr>
            <a:r>
              <a:t>How ELA Works</a:t>
            </a:r>
          </a:p>
        </p:txBody>
      </p:sp>
      <p:sp>
        <p:nvSpPr>
          <p:cNvPr id="9" name="TextBox 8"/>
          <p:cNvSpPr txBox="1"/>
          <p:nvPr/>
        </p:nvSpPr>
        <p:spPr>
          <a:xfrm>
            <a:off x="640080" y="1645920"/>
            <a:ext cx="5943600" cy="4572000"/>
          </a:xfrm>
          <a:prstGeom prst="rect">
            <a:avLst/>
          </a:prstGeom>
          <a:noFill/>
        </p:spPr>
        <p:txBody>
          <a:bodyPr wrap="square">
            <a:spAutoFit/>
          </a:bodyPr>
          <a:lstStyle/>
          <a:p>
            <a:pPr>
              <a:spcAft>
                <a:spcPts val="400"/>
              </a:spcAft>
              <a:defRPr sz="1400">
                <a:solidFill>
                  <a:srgbClr val="555555"/>
                </a:solidFill>
                <a:latin typeface="Calibri"/>
              </a:defRPr>
            </a:pPr>
            <a:r>
              <a:t>1. Take the uploaded image</a:t>
            </a:r>
          </a:p>
          <a:p>
            <a:pPr>
              <a:spcAft>
                <a:spcPts val="400"/>
              </a:spcAft>
              <a:defRPr sz="1400">
                <a:solidFill>
                  <a:srgbClr val="555555"/>
                </a:solidFill>
                <a:latin typeface="Calibri"/>
              </a:defRPr>
            </a:pPr>
            <a:r>
              <a:t>2. Re-save it as JPEG at quality 90%</a:t>
            </a:r>
          </a:p>
          <a:p>
            <a:pPr>
              <a:spcAft>
                <a:spcPts val="400"/>
              </a:spcAft>
              <a:defRPr sz="1400">
                <a:solidFill>
                  <a:srgbClr val="555555"/>
                </a:solidFill>
                <a:latin typeface="Calibri"/>
              </a:defRPr>
            </a:pPr>
            <a:r>
              <a:t>3. Compare original with re-saved version (pixel by pixel)</a:t>
            </a:r>
          </a:p>
          <a:p>
            <a:pPr>
              <a:spcAft>
                <a:spcPts val="400"/>
              </a:spcAft>
              <a:defRPr sz="1400">
                <a:solidFill>
                  <a:srgbClr val="555555"/>
                </a:solidFill>
                <a:latin typeface="Calibri"/>
              </a:defRPr>
            </a:pPr>
            <a:r>
              <a:t>4. Compute the DIFFERENCE between original and re-saved</a:t>
            </a:r>
          </a:p>
          <a:p>
            <a:pPr>
              <a:spcAft>
                <a:spcPts val="400"/>
              </a:spcAft>
              <a:defRPr sz="1400">
                <a:solidFill>
                  <a:srgbClr val="555555"/>
                </a:solidFill>
                <a:latin typeface="Calibri"/>
              </a:defRPr>
            </a:pPr>
          </a:p>
          <a:p>
            <a:pPr>
              <a:spcAft>
                <a:spcPts val="400"/>
              </a:spcAft>
              <a:defRPr sz="1400">
                <a:solidFill>
                  <a:srgbClr val="555555"/>
                </a:solidFill>
                <a:latin typeface="Calibri"/>
              </a:defRPr>
            </a:pPr>
            <a:r>
              <a:t>What the difference tells us:</a:t>
            </a:r>
          </a:p>
          <a:p>
            <a:pPr>
              <a:spcAft>
                <a:spcPts val="400"/>
              </a:spcAft>
              <a:defRPr sz="1400">
                <a:solidFill>
                  <a:srgbClr val="555555"/>
                </a:solidFill>
                <a:latin typeface="Calibri"/>
              </a:defRPr>
            </a:pPr>
          </a:p>
          <a:p>
            <a:pPr>
              <a:spcAft>
                <a:spcPts val="400"/>
              </a:spcAft>
              <a:defRPr sz="1400">
                <a:solidFill>
                  <a:srgbClr val="555555"/>
                </a:solidFill>
                <a:latin typeface="Calibri"/>
              </a:defRPr>
            </a:pPr>
            <a:r>
              <a:t>  REAL images:</a:t>
            </a:r>
          </a:p>
          <a:p>
            <a:pPr>
              <a:spcAft>
                <a:spcPts val="400"/>
              </a:spcAft>
              <a:defRPr sz="1400">
                <a:solidFill>
                  <a:srgbClr val="555555"/>
                </a:solidFill>
                <a:latin typeface="Calibri"/>
              </a:defRPr>
            </a:pPr>
            <a:r>
              <a:t>    Difference is UNIFORM across the entire image.</a:t>
            </a:r>
          </a:p>
          <a:p>
            <a:pPr>
              <a:spcAft>
                <a:spcPts val="400"/>
              </a:spcAft>
              <a:defRPr sz="1400">
                <a:solidFill>
                  <a:srgbClr val="555555"/>
                </a:solidFill>
                <a:latin typeface="Calibri"/>
              </a:defRPr>
            </a:pPr>
            <a:r>
              <a:t>    All regions have same compression history.</a:t>
            </a:r>
          </a:p>
          <a:p>
            <a:pPr>
              <a:spcAft>
                <a:spcPts val="400"/>
              </a:spcAft>
              <a:defRPr sz="1400">
                <a:solidFill>
                  <a:srgbClr val="555555"/>
                </a:solidFill>
                <a:latin typeface="Calibri"/>
              </a:defRPr>
            </a:pPr>
          </a:p>
          <a:p>
            <a:pPr>
              <a:spcAft>
                <a:spcPts val="400"/>
              </a:spcAft>
              <a:defRPr sz="1400">
                <a:solidFill>
                  <a:srgbClr val="555555"/>
                </a:solidFill>
                <a:latin typeface="Calibri"/>
              </a:defRPr>
            </a:pPr>
            <a:r>
              <a:t>  FAKE / MANIPULATED images:</a:t>
            </a:r>
          </a:p>
          <a:p>
            <a:pPr>
              <a:spcAft>
                <a:spcPts val="400"/>
              </a:spcAft>
              <a:defRPr sz="1400">
                <a:solidFill>
                  <a:srgbClr val="555555"/>
                </a:solidFill>
                <a:latin typeface="Calibri"/>
              </a:defRPr>
            </a:pPr>
            <a:r>
              <a:t>    Edited regions show DIFFERENT error levels.</a:t>
            </a:r>
          </a:p>
          <a:p>
            <a:pPr>
              <a:spcAft>
                <a:spcPts val="400"/>
              </a:spcAft>
              <a:defRPr sz="1400">
                <a:solidFill>
                  <a:srgbClr val="555555"/>
                </a:solidFill>
                <a:latin typeface="Calibri"/>
              </a:defRPr>
            </a:pPr>
            <a:r>
              <a:t>    Pasted face has different compression than background.</a:t>
            </a:r>
          </a:p>
          <a:p>
            <a:pPr>
              <a:spcAft>
                <a:spcPts val="400"/>
              </a:spcAft>
              <a:defRPr sz="1400">
                <a:solidFill>
                  <a:srgbClr val="555555"/>
                </a:solidFill>
                <a:latin typeface="Calibri"/>
              </a:defRPr>
            </a:pPr>
          </a:p>
          <a:p>
            <a:pPr>
              <a:spcAft>
                <a:spcPts val="400"/>
              </a:spcAft>
              <a:defRPr sz="1400">
                <a:solidFill>
                  <a:srgbClr val="555555"/>
                </a:solidFill>
                <a:latin typeface="Calibri"/>
              </a:defRPr>
            </a:pPr>
            <a:r>
              <a:t>  AI-GENERATED images:</a:t>
            </a:r>
          </a:p>
          <a:p>
            <a:pPr>
              <a:spcAft>
                <a:spcPts val="400"/>
              </a:spcAft>
              <a:defRPr sz="1400">
                <a:solidFill>
                  <a:srgbClr val="555555"/>
                </a:solidFill>
                <a:latin typeface="Calibri"/>
              </a:defRPr>
            </a:pPr>
            <a:r>
              <a:t>    Unnaturally UNIFORM noise (too perfect).</a:t>
            </a:r>
          </a:p>
          <a:p>
            <a:pPr>
              <a:spcAft>
                <a:spcPts val="400"/>
              </a:spcAft>
              <a:defRPr sz="1400">
                <a:solidFill>
                  <a:srgbClr val="555555"/>
                </a:solidFill>
                <a:latin typeface="Calibri"/>
              </a:defRPr>
            </a:pPr>
            <a:r>
              <a:t>    Real cameras always add natural noise variation.</a:t>
            </a:r>
          </a:p>
        </p:txBody>
      </p:sp>
      <p:sp>
        <p:nvSpPr>
          <p:cNvPr id="10" name="Rounded Rectangle 9"/>
          <p:cNvSpPr/>
          <p:nvPr/>
        </p:nvSpPr>
        <p:spPr>
          <a:xfrm>
            <a:off x="7132320" y="1097280"/>
            <a:ext cx="4389120" cy="228600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188720"/>
            <a:ext cx="3931920" cy="365760"/>
          </a:xfrm>
          <a:prstGeom prst="rect">
            <a:avLst/>
          </a:prstGeom>
          <a:noFill/>
        </p:spPr>
        <p:txBody>
          <a:bodyPr wrap="square">
            <a:spAutoFit/>
          </a:bodyPr>
          <a:lstStyle/>
          <a:p>
            <a:pPr algn="l">
              <a:defRPr sz="1600" b="1">
                <a:solidFill>
                  <a:srgbClr val="1A73E8"/>
                </a:solidFill>
                <a:latin typeface="Calibri"/>
              </a:defRPr>
            </a:pPr>
            <a:r>
              <a:t>Parameters</a:t>
            </a:r>
          </a:p>
        </p:txBody>
      </p:sp>
      <p:sp>
        <p:nvSpPr>
          <p:cNvPr id="12" name="TextBox 11"/>
          <p:cNvSpPr txBox="1"/>
          <p:nvPr/>
        </p:nvSpPr>
        <p:spPr>
          <a:xfrm>
            <a:off x="7315200" y="1645920"/>
            <a:ext cx="3931920" cy="1645920"/>
          </a:xfrm>
          <a:prstGeom prst="rect">
            <a:avLst/>
          </a:prstGeom>
          <a:noFill/>
        </p:spPr>
        <p:txBody>
          <a:bodyPr wrap="square">
            <a:spAutoFit/>
          </a:bodyPr>
          <a:lstStyle/>
          <a:p>
            <a:pPr>
              <a:spcAft>
                <a:spcPts val="400"/>
              </a:spcAft>
              <a:defRPr sz="1300">
                <a:solidFill>
                  <a:srgbClr val="555555"/>
                </a:solidFill>
                <a:latin typeface="Calibri"/>
              </a:defRPr>
            </a:pPr>
            <a:r>
              <a:t>JPEG Quality: 90%</a:t>
            </a:r>
          </a:p>
          <a:p>
            <a:pPr>
              <a:spcAft>
                <a:spcPts val="400"/>
              </a:spcAft>
              <a:defRPr sz="1300">
                <a:solidFill>
                  <a:srgbClr val="555555"/>
                </a:solidFill>
                <a:latin typeface="Calibri"/>
              </a:defRPr>
            </a:pPr>
            <a:r>
              <a:t>Multi-quality sweep: 75%, 85%, 95%</a:t>
            </a:r>
          </a:p>
          <a:p>
            <a:pPr>
              <a:spcAft>
                <a:spcPts val="400"/>
              </a:spcAft>
              <a:defRPr sz="1300">
                <a:solidFill>
                  <a:srgbClr val="555555"/>
                </a:solidFill>
                <a:latin typeface="Calibri"/>
              </a:defRPr>
            </a:pPr>
            <a:r>
              <a:t>Face vs Background differential</a:t>
            </a:r>
          </a:p>
          <a:p>
            <a:pPr>
              <a:spcAft>
                <a:spcPts val="400"/>
              </a:spcAft>
              <a:defRPr sz="1300">
                <a:solidFill>
                  <a:srgbClr val="555555"/>
                </a:solidFill>
                <a:latin typeface="Calibri"/>
              </a:defRPr>
            </a:pPr>
            <a:r>
              <a:t>Noise consistency analysis</a:t>
            </a:r>
          </a:p>
        </p:txBody>
      </p:sp>
      <p:sp>
        <p:nvSpPr>
          <p:cNvPr id="13" name="Rounded Rectangle 12"/>
          <p:cNvSpPr/>
          <p:nvPr/>
        </p:nvSpPr>
        <p:spPr>
          <a:xfrm>
            <a:off x="7132320" y="3657600"/>
            <a:ext cx="4389120" cy="274320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3749039"/>
            <a:ext cx="3931920" cy="365760"/>
          </a:xfrm>
          <a:prstGeom prst="rect">
            <a:avLst/>
          </a:prstGeom>
          <a:noFill/>
        </p:spPr>
        <p:txBody>
          <a:bodyPr wrap="square">
            <a:spAutoFit/>
          </a:bodyPr>
          <a:lstStyle/>
          <a:p>
            <a:pPr algn="l">
              <a:defRPr sz="1600" b="1">
                <a:solidFill>
                  <a:srgbClr val="1A73E8"/>
                </a:solidFill>
                <a:latin typeface="Calibri"/>
              </a:defRPr>
            </a:pPr>
            <a:r>
              <a:t>Output</a:t>
            </a:r>
          </a:p>
        </p:txBody>
      </p:sp>
      <p:sp>
        <p:nvSpPr>
          <p:cNvPr id="15" name="TextBox 14"/>
          <p:cNvSpPr txBox="1"/>
          <p:nvPr/>
        </p:nvSpPr>
        <p:spPr>
          <a:xfrm>
            <a:off x="7315200" y="4206240"/>
            <a:ext cx="3931920" cy="2011680"/>
          </a:xfrm>
          <a:prstGeom prst="rect">
            <a:avLst/>
          </a:prstGeom>
          <a:noFill/>
        </p:spPr>
        <p:txBody>
          <a:bodyPr wrap="square">
            <a:spAutoFit/>
          </a:bodyPr>
          <a:lstStyle/>
          <a:p>
            <a:pPr>
              <a:spcAft>
                <a:spcPts val="400"/>
              </a:spcAft>
              <a:defRPr sz="1300">
                <a:solidFill>
                  <a:srgbClr val="555555"/>
                </a:solidFill>
                <a:latin typeface="Calibri"/>
              </a:defRPr>
            </a:pPr>
            <a:r>
              <a:t>ELA Score: 0-100</a:t>
            </a:r>
          </a:p>
          <a:p>
            <a:pPr>
              <a:spcAft>
                <a:spcPts val="400"/>
              </a:spcAft>
              <a:defRPr sz="1300">
                <a:solidFill>
                  <a:srgbClr val="555555"/>
                </a:solidFill>
                <a:latin typeface="Calibri"/>
              </a:defRPr>
            </a:pPr>
            <a:r>
              <a:t>Max Error, Mean Error, Error Std Dev</a:t>
            </a:r>
          </a:p>
          <a:p>
            <a:pPr>
              <a:spcAft>
                <a:spcPts val="400"/>
              </a:spcAft>
              <a:defRPr sz="1300">
                <a:solidFill>
                  <a:srgbClr val="555555"/>
                </a:solidFill>
                <a:latin typeface="Calibri"/>
              </a:defRPr>
            </a:pPr>
            <a:r>
              <a:t>Region Variance (face vs background)</a:t>
            </a:r>
          </a:p>
          <a:p>
            <a:pPr>
              <a:spcAft>
                <a:spcPts val="400"/>
              </a:spcAft>
              <a:defRPr sz="1300">
                <a:solidFill>
                  <a:srgbClr val="555555"/>
                </a:solidFill>
                <a:latin typeface="Calibri"/>
              </a:defRPr>
            </a:pPr>
            <a:r>
              <a:t>ELA Heatmap (visual map of errors)</a:t>
            </a:r>
          </a:p>
          <a:p>
            <a:pPr>
              <a:spcAft>
                <a:spcPts val="400"/>
              </a:spcAft>
              <a:defRPr sz="1300">
                <a:solidFill>
                  <a:srgbClr val="555555"/>
                </a:solidFill>
                <a:latin typeface="Calibri"/>
              </a:defRPr>
            </a:pPr>
            <a:r>
              <a:t>ELA Overlay on original image</a:t>
            </a:r>
          </a:p>
          <a:p>
            <a:pPr>
              <a:spcAft>
                <a:spcPts val="400"/>
              </a:spcAft>
              <a:defRPr sz="1300">
                <a:solidFill>
                  <a:srgbClr val="555555"/>
                </a:solidFill>
                <a:latin typeface="Calibri"/>
              </a:defRPr>
            </a:pPr>
            <a:r>
              <a:t>Verdict: Clean / Moderate / Suspicious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Layer 2: DCT Frequency Analysis</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6400800" cy="5303520"/>
          </a:xfrm>
          <a:prstGeom prst="roundRect">
            <a:avLst/>
          </a:prstGeom>
          <a:solidFill>
            <a:srgbClr val="F8F9FA"/>
          </a:solidFill>
          <a:ln w="12700">
            <a:solidFill>
              <a:srgbClr val="6C3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943600" cy="365760"/>
          </a:xfrm>
          <a:prstGeom prst="rect">
            <a:avLst/>
          </a:prstGeom>
          <a:noFill/>
        </p:spPr>
        <p:txBody>
          <a:bodyPr wrap="square">
            <a:spAutoFit/>
          </a:bodyPr>
          <a:lstStyle/>
          <a:p>
            <a:pPr algn="l">
              <a:defRPr sz="1800" b="1">
                <a:solidFill>
                  <a:srgbClr val="6C3CB0"/>
                </a:solidFill>
                <a:latin typeface="Calibri"/>
              </a:defRPr>
            </a:pPr>
            <a:r>
              <a:t>How DCT Works</a:t>
            </a:r>
          </a:p>
        </p:txBody>
      </p:sp>
      <p:sp>
        <p:nvSpPr>
          <p:cNvPr id="9" name="TextBox 8"/>
          <p:cNvSpPr txBox="1"/>
          <p:nvPr/>
        </p:nvSpPr>
        <p:spPr>
          <a:xfrm>
            <a:off x="640080" y="1645920"/>
            <a:ext cx="5943600" cy="4572000"/>
          </a:xfrm>
          <a:prstGeom prst="rect">
            <a:avLst/>
          </a:prstGeom>
          <a:noFill/>
        </p:spPr>
        <p:txBody>
          <a:bodyPr wrap="square">
            <a:spAutoFit/>
          </a:bodyPr>
          <a:lstStyle/>
          <a:p>
            <a:pPr>
              <a:spcAft>
                <a:spcPts val="400"/>
              </a:spcAft>
              <a:defRPr sz="1400">
                <a:solidFill>
                  <a:srgbClr val="555555"/>
                </a:solidFill>
                <a:latin typeface="Calibri"/>
              </a:defRPr>
            </a:pPr>
            <a:r>
              <a:t>DCT = Discrete Cosine Transform</a:t>
            </a:r>
          </a:p>
          <a:p>
            <a:pPr>
              <a:spcAft>
                <a:spcPts val="400"/>
              </a:spcAft>
              <a:defRPr sz="1400">
                <a:solidFill>
                  <a:srgbClr val="555555"/>
                </a:solidFill>
                <a:latin typeface="Calibri"/>
              </a:defRPr>
            </a:pPr>
            <a:r>
              <a:t>(Converts pixels to frequency components)</a:t>
            </a:r>
          </a:p>
          <a:p>
            <a:pPr>
              <a:spcAft>
                <a:spcPts val="400"/>
              </a:spcAft>
              <a:defRPr sz="1400">
                <a:solidFill>
                  <a:srgbClr val="555555"/>
                </a:solidFill>
                <a:latin typeface="Calibri"/>
              </a:defRPr>
            </a:pPr>
          </a:p>
          <a:p>
            <a:pPr>
              <a:spcAft>
                <a:spcPts val="400"/>
              </a:spcAft>
              <a:defRPr sz="1400">
                <a:solidFill>
                  <a:srgbClr val="555555"/>
                </a:solidFill>
                <a:latin typeface="Calibri"/>
              </a:defRPr>
            </a:pPr>
            <a:r>
              <a:t>1. Divide image into 8x8 pixel blocks</a:t>
            </a:r>
          </a:p>
          <a:p>
            <a:pPr>
              <a:spcAft>
                <a:spcPts val="400"/>
              </a:spcAft>
              <a:defRPr sz="1400">
                <a:solidFill>
                  <a:srgbClr val="555555"/>
                </a:solidFill>
                <a:latin typeface="Calibri"/>
              </a:defRPr>
            </a:pPr>
            <a:r>
              <a:t>   (same block size used by JPEG compression)</a:t>
            </a:r>
          </a:p>
          <a:p>
            <a:pPr>
              <a:spcAft>
                <a:spcPts val="400"/>
              </a:spcAft>
              <a:defRPr sz="1400">
                <a:solidFill>
                  <a:srgbClr val="555555"/>
                </a:solidFill>
                <a:latin typeface="Calibri"/>
              </a:defRPr>
            </a:pPr>
          </a:p>
          <a:p>
            <a:pPr>
              <a:spcAft>
                <a:spcPts val="400"/>
              </a:spcAft>
              <a:defRPr sz="1400">
                <a:solidFill>
                  <a:srgbClr val="555555"/>
                </a:solidFill>
                <a:latin typeface="Calibri"/>
              </a:defRPr>
            </a:pPr>
            <a:r>
              <a:t>2. Apply DCT to each block</a:t>
            </a:r>
          </a:p>
          <a:p>
            <a:pPr>
              <a:spcAft>
                <a:spcPts val="400"/>
              </a:spcAft>
              <a:defRPr sz="1400">
                <a:solidFill>
                  <a:srgbClr val="555555"/>
                </a:solidFill>
                <a:latin typeface="Calibri"/>
              </a:defRPr>
            </a:pPr>
            <a:r>
              <a:t>   Think of it like a music equalizer:</a:t>
            </a:r>
          </a:p>
          <a:p>
            <a:pPr>
              <a:spcAft>
                <a:spcPts val="400"/>
              </a:spcAft>
              <a:defRPr sz="1400">
                <a:solidFill>
                  <a:srgbClr val="555555"/>
                </a:solidFill>
                <a:latin typeface="Calibri"/>
              </a:defRPr>
            </a:pPr>
            <a:r>
              <a:t>   Low freq = bass = smooth areas</a:t>
            </a:r>
          </a:p>
          <a:p>
            <a:pPr>
              <a:spcAft>
                <a:spcPts val="400"/>
              </a:spcAft>
              <a:defRPr sz="1400">
                <a:solidFill>
                  <a:srgbClr val="555555"/>
                </a:solidFill>
                <a:latin typeface="Calibri"/>
              </a:defRPr>
            </a:pPr>
            <a:r>
              <a:t>   High freq = treble = sharp edges/noise</a:t>
            </a:r>
          </a:p>
          <a:p>
            <a:pPr>
              <a:spcAft>
                <a:spcPts val="400"/>
              </a:spcAft>
              <a:defRPr sz="1400">
                <a:solidFill>
                  <a:srgbClr val="555555"/>
                </a:solidFill>
                <a:latin typeface="Calibri"/>
              </a:defRPr>
            </a:pPr>
          </a:p>
          <a:p>
            <a:pPr>
              <a:spcAft>
                <a:spcPts val="400"/>
              </a:spcAft>
              <a:defRPr sz="1400">
                <a:solidFill>
                  <a:srgbClr val="555555"/>
                </a:solidFill>
                <a:latin typeface="Calibri"/>
              </a:defRPr>
            </a:pPr>
            <a:r>
              <a:t>3. Analyze the frequency distribution:</a:t>
            </a:r>
          </a:p>
          <a:p>
            <a:pPr>
              <a:spcAft>
                <a:spcPts val="400"/>
              </a:spcAft>
              <a:defRPr sz="1400">
                <a:solidFill>
                  <a:srgbClr val="555555"/>
                </a:solidFill>
                <a:latin typeface="Calibri"/>
              </a:defRPr>
            </a:pPr>
            <a:r>
              <a:t>   REAL photos: smooth, natural frequency decline</a:t>
            </a:r>
          </a:p>
          <a:p>
            <a:pPr>
              <a:spcAft>
                <a:spcPts val="400"/>
              </a:spcAft>
              <a:defRPr sz="1400">
                <a:solidFill>
                  <a:srgbClr val="555555"/>
                </a:solidFill>
                <a:latin typeface="Calibri"/>
              </a:defRPr>
            </a:pPr>
            <a:r>
              <a:t>   AI images: abnormal spikes = 'GAN fingerprints'</a:t>
            </a:r>
          </a:p>
          <a:p>
            <a:pPr>
              <a:spcAft>
                <a:spcPts val="400"/>
              </a:spcAft>
              <a:defRPr sz="1400">
                <a:solidFill>
                  <a:srgbClr val="555555"/>
                </a:solidFill>
                <a:latin typeface="Calibri"/>
              </a:defRPr>
            </a:pPr>
          </a:p>
          <a:p>
            <a:pPr>
              <a:spcAft>
                <a:spcPts val="400"/>
              </a:spcAft>
              <a:defRPr sz="1400">
                <a:solidFill>
                  <a:srgbClr val="555555"/>
                </a:solidFill>
                <a:latin typeface="Calibri"/>
              </a:defRPr>
            </a:pPr>
            <a:r>
              <a:t>4. Also check for periodic artifacts:</a:t>
            </a:r>
          </a:p>
          <a:p>
            <a:pPr>
              <a:spcAft>
                <a:spcPts val="400"/>
              </a:spcAft>
              <a:defRPr sz="1400">
                <a:solidFill>
                  <a:srgbClr val="555555"/>
                </a:solidFill>
                <a:latin typeface="Calibri"/>
              </a:defRPr>
            </a:pPr>
            <a:r>
              <a:t>   GAN upsampling creates repeating patterns</a:t>
            </a:r>
          </a:p>
          <a:p>
            <a:pPr>
              <a:spcAft>
                <a:spcPts val="400"/>
              </a:spcAft>
              <a:defRPr sz="1400">
                <a:solidFill>
                  <a:srgbClr val="555555"/>
                </a:solidFill>
                <a:latin typeface="Calibri"/>
              </a:defRPr>
            </a:pPr>
            <a:r>
              <a:t>   visible only in frequency domain</a:t>
            </a:r>
          </a:p>
        </p:txBody>
      </p:sp>
      <p:sp>
        <p:nvSpPr>
          <p:cNvPr id="10" name="Rounded Rectangle 9"/>
          <p:cNvSpPr/>
          <p:nvPr/>
        </p:nvSpPr>
        <p:spPr>
          <a:xfrm>
            <a:off x="7132320" y="1097280"/>
            <a:ext cx="4389120" cy="5303520"/>
          </a:xfrm>
          <a:prstGeom prst="roundRect">
            <a:avLst/>
          </a:prstGeom>
          <a:solidFill>
            <a:srgbClr val="F8F9FA"/>
          </a:solidFill>
          <a:ln w="12700">
            <a:solidFill>
              <a:srgbClr val="6C3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1188720"/>
            <a:ext cx="3931920" cy="365760"/>
          </a:xfrm>
          <a:prstGeom prst="rect">
            <a:avLst/>
          </a:prstGeom>
          <a:noFill/>
        </p:spPr>
        <p:txBody>
          <a:bodyPr wrap="square">
            <a:spAutoFit/>
          </a:bodyPr>
          <a:lstStyle/>
          <a:p>
            <a:pPr algn="l">
              <a:defRPr sz="1600" b="1">
                <a:solidFill>
                  <a:srgbClr val="6C3CB0"/>
                </a:solidFill>
                <a:latin typeface="Calibri"/>
              </a:defRPr>
            </a:pPr>
            <a:r>
              <a:t>Output Metrics</a:t>
            </a:r>
          </a:p>
        </p:txBody>
      </p:sp>
      <p:sp>
        <p:nvSpPr>
          <p:cNvPr id="12" name="TextBox 11"/>
          <p:cNvSpPr txBox="1"/>
          <p:nvPr/>
        </p:nvSpPr>
        <p:spPr>
          <a:xfrm>
            <a:off x="7315200" y="1645920"/>
            <a:ext cx="3931920" cy="4572000"/>
          </a:xfrm>
          <a:prstGeom prst="rect">
            <a:avLst/>
          </a:prstGeom>
          <a:noFill/>
        </p:spPr>
        <p:txBody>
          <a:bodyPr wrap="square">
            <a:spAutoFit/>
          </a:bodyPr>
          <a:lstStyle/>
          <a:p>
            <a:pPr>
              <a:spcAft>
                <a:spcPts val="400"/>
              </a:spcAft>
              <a:defRPr sz="1200">
                <a:solidFill>
                  <a:srgbClr val="555555"/>
                </a:solidFill>
                <a:latin typeface="Calibri"/>
              </a:defRPr>
            </a:pPr>
            <a:r>
              <a:t>DCT Score: 0-100</a:t>
            </a:r>
          </a:p>
          <a:p>
            <a:pPr>
              <a:spcAft>
                <a:spcPts val="400"/>
              </a:spcAft>
              <a:defRPr sz="1200">
                <a:solidFill>
                  <a:srgbClr val="555555"/>
                </a:solidFill>
                <a:latin typeface="Calibri"/>
              </a:defRPr>
            </a:pPr>
            <a:r>
              <a:t>Low Frequency Ratio (%)</a:t>
            </a:r>
          </a:p>
          <a:p>
            <a:pPr>
              <a:spcAft>
                <a:spcPts val="400"/>
              </a:spcAft>
              <a:defRPr sz="1200">
                <a:solidFill>
                  <a:srgbClr val="555555"/>
                </a:solidFill>
                <a:latin typeface="Calibri"/>
              </a:defRPr>
            </a:pPr>
            <a:r>
              <a:t>Mid Frequency Ratio (%)</a:t>
            </a:r>
          </a:p>
          <a:p>
            <a:pPr>
              <a:spcAft>
                <a:spcPts val="400"/>
              </a:spcAft>
              <a:defRPr sz="1200">
                <a:solidFill>
                  <a:srgbClr val="555555"/>
                </a:solidFill>
                <a:latin typeface="Calibri"/>
              </a:defRPr>
            </a:pPr>
            <a:r>
              <a:t>High Frequency Ratio (%)</a:t>
            </a:r>
          </a:p>
          <a:p>
            <a:pPr>
              <a:spcAft>
                <a:spcPts val="400"/>
              </a:spcAft>
              <a:defRPr sz="1200">
                <a:solidFill>
                  <a:srgbClr val="555555"/>
                </a:solidFill>
                <a:latin typeface="Calibri"/>
              </a:defRPr>
            </a:pPr>
            <a:r>
              <a:t>Periodic Artifact Detection (Yes/No)</a:t>
            </a:r>
          </a:p>
          <a:p>
            <a:pPr>
              <a:spcAft>
                <a:spcPts val="400"/>
              </a:spcAft>
              <a:defRPr sz="1200">
                <a:solidFill>
                  <a:srgbClr val="555555"/>
                </a:solidFill>
                <a:latin typeface="Calibri"/>
              </a:defRPr>
            </a:pPr>
            <a:r>
              <a:t>AC Energy Peak Count</a:t>
            </a:r>
          </a:p>
          <a:p>
            <a:pPr>
              <a:spcAft>
                <a:spcPts val="400"/>
              </a:spcAft>
              <a:defRPr sz="1200">
                <a:solidFill>
                  <a:srgbClr val="555555"/>
                </a:solidFill>
                <a:latin typeface="Calibri"/>
              </a:defRPr>
            </a:pPr>
            <a:r>
              <a:t>Spectral Map visualization</a:t>
            </a:r>
          </a:p>
          <a:p>
            <a:pPr>
              <a:spcAft>
                <a:spcPts val="400"/>
              </a:spcAft>
              <a:defRPr sz="1200">
                <a:solidFill>
                  <a:srgbClr val="555555"/>
                </a:solidFill>
                <a:latin typeface="Calibri"/>
              </a:defRPr>
            </a:pPr>
            <a:r>
              <a:t>Spectral Overlay on original image</a:t>
            </a:r>
          </a:p>
          <a:p>
            <a:pPr>
              <a:spcAft>
                <a:spcPts val="400"/>
              </a:spcAft>
              <a:defRPr sz="1200">
                <a:solidFill>
                  <a:srgbClr val="555555"/>
                </a:solidFill>
                <a:latin typeface="Calibri"/>
              </a:defRPr>
            </a:pPr>
          </a:p>
          <a:p>
            <a:pPr>
              <a:spcAft>
                <a:spcPts val="400"/>
              </a:spcAft>
              <a:defRPr sz="1200">
                <a:solidFill>
                  <a:srgbClr val="555555"/>
                </a:solidFill>
                <a:latin typeface="Calibri"/>
              </a:defRPr>
            </a:pPr>
            <a:r>
              <a:t>Why 8x8 blocks?</a:t>
            </a:r>
          </a:p>
          <a:p>
            <a:pPr>
              <a:spcAft>
                <a:spcPts val="400"/>
              </a:spcAft>
              <a:defRPr sz="1200">
                <a:solidFill>
                  <a:srgbClr val="555555"/>
                </a:solidFill>
                <a:latin typeface="Calibri"/>
              </a:defRPr>
            </a:pPr>
            <a:r>
              <a:t>  JPEG compression uses 8x8 DCT.</a:t>
            </a:r>
          </a:p>
          <a:p>
            <a:pPr>
              <a:spcAft>
                <a:spcPts val="400"/>
              </a:spcAft>
              <a:defRPr sz="1200">
                <a:solidFill>
                  <a:srgbClr val="555555"/>
                </a:solidFill>
                <a:latin typeface="Calibri"/>
              </a:defRPr>
            </a:pPr>
            <a:r>
              <a:t>  Edited or double-compressed images</a:t>
            </a:r>
          </a:p>
          <a:p>
            <a:pPr>
              <a:spcAft>
                <a:spcPts val="400"/>
              </a:spcAft>
              <a:defRPr sz="1200">
                <a:solidFill>
                  <a:srgbClr val="555555"/>
                </a:solidFill>
                <a:latin typeface="Calibri"/>
              </a:defRPr>
            </a:pPr>
            <a:r>
              <a:t>  create detectable artifacts at these</a:t>
            </a:r>
          </a:p>
          <a:p>
            <a:pPr>
              <a:spcAft>
                <a:spcPts val="400"/>
              </a:spcAft>
              <a:defRPr sz="1200">
                <a:solidFill>
                  <a:srgbClr val="555555"/>
                </a:solidFill>
                <a:latin typeface="Calibri"/>
              </a:defRPr>
            </a:pPr>
            <a:r>
              <a:t>  block boundaries.</a:t>
            </a:r>
          </a:p>
          <a:p>
            <a:pPr>
              <a:spcAft>
                <a:spcPts val="400"/>
              </a:spcAft>
              <a:defRPr sz="1200">
                <a:solidFill>
                  <a:srgbClr val="555555"/>
                </a:solidFill>
                <a:latin typeface="Calibri"/>
              </a:defRPr>
            </a:pPr>
          </a:p>
          <a:p>
            <a:pPr>
              <a:spcAft>
                <a:spcPts val="400"/>
              </a:spcAft>
              <a:defRPr sz="1200">
                <a:solidFill>
                  <a:srgbClr val="555555"/>
                </a:solidFill>
                <a:latin typeface="Calibri"/>
              </a:defRPr>
            </a:pPr>
            <a:r>
              <a:t>Detects:</a:t>
            </a:r>
          </a:p>
          <a:p>
            <a:pPr>
              <a:spcAft>
                <a:spcPts val="400"/>
              </a:spcAft>
              <a:defRPr sz="1200">
                <a:solidFill>
                  <a:srgbClr val="555555"/>
                </a:solidFill>
                <a:latin typeface="Calibri"/>
              </a:defRPr>
            </a:pPr>
            <a:r>
              <a:t>  - GAN-generated images</a:t>
            </a:r>
          </a:p>
          <a:p>
            <a:pPr>
              <a:spcAft>
                <a:spcPts val="400"/>
              </a:spcAft>
              <a:defRPr sz="1200">
                <a:solidFill>
                  <a:srgbClr val="555555"/>
                </a:solidFill>
                <a:latin typeface="Calibri"/>
              </a:defRPr>
            </a:pPr>
            <a:r>
              <a:t>  - AI-upscaled images</a:t>
            </a:r>
          </a:p>
          <a:p>
            <a:pPr>
              <a:spcAft>
                <a:spcPts val="400"/>
              </a:spcAft>
              <a:defRPr sz="1200">
                <a:solidFill>
                  <a:srgbClr val="555555"/>
                </a:solidFill>
                <a:latin typeface="Calibri"/>
              </a:defRPr>
            </a:pPr>
            <a:r>
              <a:t>  - Face-swapped images</a:t>
            </a:r>
          </a:p>
          <a:p>
            <a:pPr>
              <a:spcAft>
                <a:spcPts val="400"/>
              </a:spcAft>
              <a:defRPr sz="1200">
                <a:solidFill>
                  <a:srgbClr val="555555"/>
                </a:solidFill>
                <a:latin typeface="Calibri"/>
              </a:defRPr>
            </a:pPr>
            <a:r>
              <a:t>  - Double-compressed images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Layer 3: Face Forensics (Biometric Analysis)</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005840"/>
            <a:ext cx="10058400" cy="457200"/>
          </a:xfrm>
          <a:prstGeom prst="rect">
            <a:avLst/>
          </a:prstGeom>
          <a:noFill/>
        </p:spPr>
        <p:txBody>
          <a:bodyPr wrap="square">
            <a:spAutoFit/>
          </a:bodyPr>
          <a:lstStyle/>
          <a:p>
            <a:pPr algn="l">
              <a:defRPr sz="1500" b="0">
                <a:solidFill>
                  <a:srgbClr val="333333"/>
                </a:solidFill>
                <a:latin typeface="Calibri"/>
              </a:defRPr>
            </a:pPr>
            <a:r>
              <a:t>Uses Google MediaPipe to detect 468 facial landmarks, then checks 4 biometric properties:</a:t>
            </a:r>
          </a:p>
        </p:txBody>
      </p:sp>
      <p:sp>
        <p:nvSpPr>
          <p:cNvPr id="8" name="Rounded Rectangle 7"/>
          <p:cNvSpPr/>
          <p:nvPr/>
        </p:nvSpPr>
        <p:spPr>
          <a:xfrm>
            <a:off x="457200" y="1645920"/>
            <a:ext cx="5486400" cy="210312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94360" y="1783080"/>
            <a:ext cx="365760" cy="365760"/>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0" name="TextBox 9"/>
          <p:cNvSpPr txBox="1"/>
          <p:nvPr/>
        </p:nvSpPr>
        <p:spPr>
          <a:xfrm>
            <a:off x="1051560" y="1783080"/>
            <a:ext cx="4572000" cy="365760"/>
          </a:xfrm>
          <a:prstGeom prst="rect">
            <a:avLst/>
          </a:prstGeom>
          <a:noFill/>
        </p:spPr>
        <p:txBody>
          <a:bodyPr wrap="square">
            <a:spAutoFit/>
          </a:bodyPr>
          <a:lstStyle/>
          <a:p>
            <a:pPr algn="l">
              <a:defRPr sz="1600" b="1">
                <a:solidFill>
                  <a:srgbClr val="1A73E8"/>
                </a:solidFill>
                <a:latin typeface="Calibri"/>
              </a:defRPr>
            </a:pPr>
            <a:r>
              <a:t>Eye Reflections</a:t>
            </a:r>
          </a:p>
        </p:txBody>
      </p:sp>
      <p:sp>
        <p:nvSpPr>
          <p:cNvPr id="11" name="TextBox 10"/>
          <p:cNvSpPr txBox="1"/>
          <p:nvPr/>
        </p:nvSpPr>
        <p:spPr>
          <a:xfrm>
            <a:off x="594360" y="2286000"/>
            <a:ext cx="5212080" cy="1371600"/>
          </a:xfrm>
          <a:prstGeom prst="rect">
            <a:avLst/>
          </a:prstGeom>
          <a:noFill/>
        </p:spPr>
        <p:txBody>
          <a:bodyPr wrap="square">
            <a:spAutoFit/>
          </a:bodyPr>
          <a:lstStyle/>
          <a:p>
            <a:pPr algn="l">
              <a:defRPr sz="1300" b="0">
                <a:solidFill>
                  <a:srgbClr val="555555"/>
                </a:solidFill>
                <a:latin typeface="Calibri"/>
              </a:defRPr>
            </a:pPr>
            <a:r>
              <a:t>Both eyes should reflect the same light sources from the same positions. In deepfakes, reflections often don't match or are missing entirely. We compare reflection patterns between left and right eyes.</a:t>
            </a:r>
          </a:p>
        </p:txBody>
      </p:sp>
      <p:sp>
        <p:nvSpPr>
          <p:cNvPr id="12" name="Rounded Rectangle 11"/>
          <p:cNvSpPr/>
          <p:nvPr/>
        </p:nvSpPr>
        <p:spPr>
          <a:xfrm>
            <a:off x="6126480" y="1645920"/>
            <a:ext cx="5486400" cy="210312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63640" y="1783080"/>
            <a:ext cx="365760" cy="365760"/>
          </a:xfrm>
          <a:prstGeom prst="ellipse">
            <a:avLst/>
          </a:prstGeom>
          <a:solidFill>
            <a:srgbClr val="0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4" name="TextBox 13"/>
          <p:cNvSpPr txBox="1"/>
          <p:nvPr/>
        </p:nvSpPr>
        <p:spPr>
          <a:xfrm>
            <a:off x="6720840" y="1783080"/>
            <a:ext cx="4572000" cy="365760"/>
          </a:xfrm>
          <a:prstGeom prst="rect">
            <a:avLst/>
          </a:prstGeom>
          <a:noFill/>
        </p:spPr>
        <p:txBody>
          <a:bodyPr wrap="square">
            <a:spAutoFit/>
          </a:bodyPr>
          <a:lstStyle/>
          <a:p>
            <a:pPr algn="l">
              <a:defRPr sz="1600" b="1">
                <a:solidFill>
                  <a:srgbClr val="0D8A4E"/>
                </a:solidFill>
                <a:latin typeface="Calibri"/>
              </a:defRPr>
            </a:pPr>
            <a:r>
              <a:t>Facial Symmetry</a:t>
            </a:r>
          </a:p>
        </p:txBody>
      </p:sp>
      <p:sp>
        <p:nvSpPr>
          <p:cNvPr id="15" name="TextBox 14"/>
          <p:cNvSpPr txBox="1"/>
          <p:nvPr/>
        </p:nvSpPr>
        <p:spPr>
          <a:xfrm>
            <a:off x="6263640" y="2286000"/>
            <a:ext cx="5212080" cy="1371600"/>
          </a:xfrm>
          <a:prstGeom prst="rect">
            <a:avLst/>
          </a:prstGeom>
          <a:noFill/>
        </p:spPr>
        <p:txBody>
          <a:bodyPr wrap="square">
            <a:spAutoFit/>
          </a:bodyPr>
          <a:lstStyle/>
          <a:p>
            <a:pPr algn="l">
              <a:defRPr sz="1300" b="0">
                <a:solidFill>
                  <a:srgbClr val="555555"/>
                </a:solidFill>
                <a:latin typeface="Calibri"/>
              </a:defRPr>
            </a:pPr>
            <a:r>
              <a:t>Real human faces are naturally asymmetric (no face is perfectly symmetric). AI-generated faces can be unnaturally symmetric. We measure asymmetry ratios across 468 landmark points.</a:t>
            </a:r>
          </a:p>
        </p:txBody>
      </p:sp>
      <p:sp>
        <p:nvSpPr>
          <p:cNvPr id="16" name="Rounded Rectangle 15"/>
          <p:cNvSpPr/>
          <p:nvPr/>
        </p:nvSpPr>
        <p:spPr>
          <a:xfrm>
            <a:off x="457200" y="4023360"/>
            <a:ext cx="5486400" cy="2103120"/>
          </a:xfrm>
          <a:prstGeom prst="roundRect">
            <a:avLst/>
          </a:prstGeom>
          <a:solidFill>
            <a:srgbClr val="F8F9F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4360" y="4160520"/>
            <a:ext cx="365760" cy="36576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18" name="TextBox 17"/>
          <p:cNvSpPr txBox="1"/>
          <p:nvPr/>
        </p:nvSpPr>
        <p:spPr>
          <a:xfrm>
            <a:off x="1051560" y="4160520"/>
            <a:ext cx="4572000" cy="365760"/>
          </a:xfrm>
          <a:prstGeom prst="rect">
            <a:avLst/>
          </a:prstGeom>
          <a:noFill/>
        </p:spPr>
        <p:txBody>
          <a:bodyPr wrap="square">
            <a:spAutoFit/>
          </a:bodyPr>
          <a:lstStyle/>
          <a:p>
            <a:pPr algn="l">
              <a:defRPr sz="1600" b="1">
                <a:solidFill>
                  <a:srgbClr val="E67E22"/>
                </a:solidFill>
                <a:latin typeface="Calibri"/>
              </a:defRPr>
            </a:pPr>
            <a:r>
              <a:t>Boundary Artifacts</a:t>
            </a:r>
          </a:p>
        </p:txBody>
      </p:sp>
      <p:sp>
        <p:nvSpPr>
          <p:cNvPr id="19" name="TextBox 18"/>
          <p:cNvSpPr txBox="1"/>
          <p:nvPr/>
        </p:nvSpPr>
        <p:spPr>
          <a:xfrm>
            <a:off x="594360" y="4663440"/>
            <a:ext cx="5212080" cy="1371600"/>
          </a:xfrm>
          <a:prstGeom prst="rect">
            <a:avLst/>
          </a:prstGeom>
          <a:noFill/>
        </p:spPr>
        <p:txBody>
          <a:bodyPr wrap="square">
            <a:spAutoFit/>
          </a:bodyPr>
          <a:lstStyle/>
          <a:p>
            <a:pPr algn="l">
              <a:defRPr sz="1300" b="0">
                <a:solidFill>
                  <a:srgbClr val="555555"/>
                </a:solidFill>
                <a:latin typeface="Calibri"/>
              </a:defRPr>
            </a:pPr>
            <a:r>
              <a:t>Where the fake face is blended onto the real body (chin, hairline, ears), there are often blending artifacts and color discontinuities. We analyze edge gradients at the face boundary.</a:t>
            </a:r>
          </a:p>
        </p:txBody>
      </p:sp>
      <p:sp>
        <p:nvSpPr>
          <p:cNvPr id="20" name="Rounded Rectangle 19"/>
          <p:cNvSpPr/>
          <p:nvPr/>
        </p:nvSpPr>
        <p:spPr>
          <a:xfrm>
            <a:off x="6126480" y="4023360"/>
            <a:ext cx="5486400" cy="2103120"/>
          </a:xfrm>
          <a:prstGeom prst="roundRect">
            <a:avLst/>
          </a:prstGeom>
          <a:solidFill>
            <a:srgbClr val="F8F9FA"/>
          </a:solidFill>
          <a:ln w="12700">
            <a:solidFill>
              <a:srgbClr val="D9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63640" y="4160520"/>
            <a:ext cx="365760" cy="365760"/>
          </a:xfrm>
          <a:prstGeom prst="ellipse">
            <a:avLst/>
          </a:prstGeom>
          <a:solidFill>
            <a:srgbClr val="D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sp>
        <p:nvSpPr>
          <p:cNvPr id="22" name="TextBox 21"/>
          <p:cNvSpPr txBox="1"/>
          <p:nvPr/>
        </p:nvSpPr>
        <p:spPr>
          <a:xfrm>
            <a:off x="6720840" y="4160520"/>
            <a:ext cx="4572000" cy="365760"/>
          </a:xfrm>
          <a:prstGeom prst="rect">
            <a:avLst/>
          </a:prstGeom>
          <a:noFill/>
        </p:spPr>
        <p:txBody>
          <a:bodyPr wrap="square">
            <a:spAutoFit/>
          </a:bodyPr>
          <a:lstStyle/>
          <a:p>
            <a:pPr algn="l">
              <a:defRPr sz="1600" b="1">
                <a:solidFill>
                  <a:srgbClr val="D93B3B"/>
                </a:solidFill>
                <a:latin typeface="Calibri"/>
              </a:defRPr>
            </a:pPr>
            <a:r>
              <a:t>Skin Texture / Mouth</a:t>
            </a:r>
          </a:p>
        </p:txBody>
      </p:sp>
      <p:sp>
        <p:nvSpPr>
          <p:cNvPr id="23" name="TextBox 22"/>
          <p:cNvSpPr txBox="1"/>
          <p:nvPr/>
        </p:nvSpPr>
        <p:spPr>
          <a:xfrm>
            <a:off x="6263640" y="4663440"/>
            <a:ext cx="5212080" cy="1371600"/>
          </a:xfrm>
          <a:prstGeom prst="rect">
            <a:avLst/>
          </a:prstGeom>
          <a:noFill/>
        </p:spPr>
        <p:txBody>
          <a:bodyPr wrap="square">
            <a:spAutoFit/>
          </a:bodyPr>
          <a:lstStyle/>
          <a:p>
            <a:pPr algn="l">
              <a:defRPr sz="1300" b="0">
                <a:solidFill>
                  <a:srgbClr val="555555"/>
                </a:solidFill>
                <a:latin typeface="Calibri"/>
              </a:defRPr>
            </a:pPr>
            <a:r>
              <a:t>Real skin has pores and natural micro-texture. AI skin is often too smooth. Teeth rendering is especially hard for AI -- teeth may be blurred, misshapen, or have incorrect count.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Layer 4: EfficientNet-B0 (Deep Learning)</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5486400" cy="530352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29200" cy="365760"/>
          </a:xfrm>
          <a:prstGeom prst="rect">
            <a:avLst/>
          </a:prstGeom>
          <a:noFill/>
        </p:spPr>
        <p:txBody>
          <a:bodyPr wrap="square">
            <a:spAutoFit/>
          </a:bodyPr>
          <a:lstStyle/>
          <a:p>
            <a:pPr algn="l">
              <a:defRPr sz="1800" b="1">
                <a:solidFill>
                  <a:srgbClr val="0D8A4E"/>
                </a:solidFill>
                <a:latin typeface="Calibri"/>
              </a:defRPr>
            </a:pPr>
            <a:r>
              <a:t>Model Architecture</a:t>
            </a:r>
          </a:p>
        </p:txBody>
      </p:sp>
      <p:sp>
        <p:nvSpPr>
          <p:cNvPr id="9" name="TextBox 8"/>
          <p:cNvSpPr txBox="1"/>
          <p:nvPr/>
        </p:nvSpPr>
        <p:spPr>
          <a:xfrm>
            <a:off x="640080" y="1645920"/>
            <a:ext cx="5029200" cy="4572000"/>
          </a:xfrm>
          <a:prstGeom prst="rect">
            <a:avLst/>
          </a:prstGeom>
          <a:noFill/>
        </p:spPr>
        <p:txBody>
          <a:bodyPr wrap="square">
            <a:spAutoFit/>
          </a:bodyPr>
          <a:lstStyle/>
          <a:p>
            <a:pPr>
              <a:spcAft>
                <a:spcPts val="400"/>
              </a:spcAft>
              <a:defRPr sz="1200">
                <a:solidFill>
                  <a:srgbClr val="555555"/>
                </a:solidFill>
                <a:latin typeface="Calibri"/>
              </a:defRPr>
            </a:pPr>
            <a:r>
              <a:t>Architecture:     EfficientNet-B0 (Google Brain, 2019)</a:t>
            </a:r>
          </a:p>
          <a:p>
            <a:pPr>
              <a:spcAft>
                <a:spcPts val="400"/>
              </a:spcAft>
              <a:defRPr sz="1200">
                <a:solidFill>
                  <a:srgbClr val="555555"/>
                </a:solidFill>
                <a:latin typeface="Calibri"/>
              </a:defRPr>
            </a:pPr>
            <a:r>
              <a:t>Pre-trained on:   ImageNet-1K (1.3M general images)</a:t>
            </a:r>
          </a:p>
          <a:p>
            <a:pPr>
              <a:spcAft>
                <a:spcPts val="400"/>
              </a:spcAft>
              <a:defRPr sz="1200">
                <a:solidFill>
                  <a:srgbClr val="555555"/>
                </a:solidFill>
                <a:latin typeface="Calibri"/>
              </a:defRPr>
            </a:pPr>
            <a:r>
              <a:t>Fine-tuned on:    Our 190K deepfake dataset</a:t>
            </a:r>
          </a:p>
          <a:p>
            <a:pPr>
              <a:spcAft>
                <a:spcPts val="400"/>
              </a:spcAft>
              <a:defRPr sz="1200">
                <a:solidFill>
                  <a:srgbClr val="555555"/>
                </a:solidFill>
                <a:latin typeface="Calibri"/>
              </a:defRPr>
            </a:pPr>
            <a:r>
              <a:t>Total Parameters: 4,010,110</a:t>
            </a:r>
          </a:p>
          <a:p>
            <a:pPr>
              <a:spcAft>
                <a:spcPts val="400"/>
              </a:spcAft>
              <a:defRPr sz="1200">
                <a:solidFill>
                  <a:srgbClr val="555555"/>
                </a:solidFill>
                <a:latin typeface="Calibri"/>
              </a:defRPr>
            </a:pPr>
            <a:r>
              <a:t>Model File Size:  15.6 MB</a:t>
            </a:r>
          </a:p>
          <a:p>
            <a:pPr>
              <a:spcAft>
                <a:spcPts val="400"/>
              </a:spcAft>
              <a:defRPr sz="1200">
                <a:solidFill>
                  <a:srgbClr val="555555"/>
                </a:solidFill>
                <a:latin typeface="Calibri"/>
              </a:defRPr>
            </a:pPr>
            <a:r>
              <a:t>Input Size:       224 x 224 x 3 (RGB)</a:t>
            </a:r>
          </a:p>
          <a:p>
            <a:pPr>
              <a:spcAft>
                <a:spcPts val="400"/>
              </a:spcAft>
              <a:defRPr sz="1200">
                <a:solidFill>
                  <a:srgbClr val="555555"/>
                </a:solidFill>
                <a:latin typeface="Calibri"/>
              </a:defRPr>
            </a:pPr>
            <a:r>
              <a:t>Output:           2 classes (Fake=0, Real=1)</a:t>
            </a:r>
          </a:p>
          <a:p>
            <a:pPr>
              <a:spcAft>
                <a:spcPts val="400"/>
              </a:spcAft>
              <a:defRPr sz="1200">
                <a:solidFill>
                  <a:srgbClr val="555555"/>
                </a:solidFill>
                <a:latin typeface="Calibri"/>
              </a:defRPr>
            </a:pPr>
            <a:r>
              <a:t>Classifier Head:  Dropout(0.3) --&gt; Linear(1280, 2)</a:t>
            </a:r>
          </a:p>
          <a:p>
            <a:pPr>
              <a:spcAft>
                <a:spcPts val="400"/>
              </a:spcAft>
              <a:defRPr sz="1200">
                <a:solidFill>
                  <a:srgbClr val="555555"/>
                </a:solidFill>
                <a:latin typeface="Calibri"/>
              </a:defRPr>
            </a:pPr>
          </a:p>
          <a:p>
            <a:pPr>
              <a:spcAft>
                <a:spcPts val="400"/>
              </a:spcAft>
              <a:defRPr sz="1200">
                <a:solidFill>
                  <a:srgbClr val="555555"/>
                </a:solidFill>
                <a:latin typeface="Calibri"/>
              </a:defRPr>
            </a:pPr>
            <a:r>
              <a:t>Why EfficientNet-B0?</a:t>
            </a:r>
          </a:p>
          <a:p>
            <a:pPr>
              <a:spcAft>
                <a:spcPts val="400"/>
              </a:spcAft>
              <a:defRPr sz="1200">
                <a:solidFill>
                  <a:srgbClr val="555555"/>
                </a:solidFill>
                <a:latin typeface="Calibri"/>
              </a:defRPr>
            </a:pPr>
          </a:p>
          <a:p>
            <a:pPr>
              <a:spcAft>
                <a:spcPts val="400"/>
              </a:spcAft>
              <a:defRPr sz="1200">
                <a:solidFill>
                  <a:srgbClr val="555555"/>
                </a:solidFill>
                <a:latin typeface="Calibri"/>
              </a:defRPr>
            </a:pPr>
            <a:r>
              <a:t>  Model          Params    ImageNet Acc</a:t>
            </a:r>
          </a:p>
          <a:p>
            <a:pPr>
              <a:spcAft>
                <a:spcPts val="400"/>
              </a:spcAft>
              <a:defRPr sz="1200">
                <a:solidFill>
                  <a:srgbClr val="555555"/>
                </a:solidFill>
                <a:latin typeface="Calibri"/>
              </a:defRPr>
            </a:pPr>
            <a:r>
              <a:t>  VGG-16         138M      71.3%</a:t>
            </a:r>
          </a:p>
          <a:p>
            <a:pPr>
              <a:spcAft>
                <a:spcPts val="400"/>
              </a:spcAft>
              <a:defRPr sz="1200">
                <a:solidFill>
                  <a:srgbClr val="555555"/>
                </a:solidFill>
                <a:latin typeface="Calibri"/>
              </a:defRPr>
            </a:pPr>
            <a:r>
              <a:t>  ResNet-50       25.6M    76.1%</a:t>
            </a:r>
          </a:p>
          <a:p>
            <a:pPr>
              <a:spcAft>
                <a:spcPts val="400"/>
              </a:spcAft>
              <a:defRPr sz="1200">
                <a:solidFill>
                  <a:srgbClr val="555555"/>
                </a:solidFill>
                <a:latin typeface="Calibri"/>
              </a:defRPr>
            </a:pPr>
            <a:r>
              <a:t>  EfficientNet-B0  4.0M    77.1%  &lt;-- Best ratio!</a:t>
            </a:r>
          </a:p>
          <a:p>
            <a:pPr>
              <a:spcAft>
                <a:spcPts val="400"/>
              </a:spcAft>
              <a:defRPr sz="1200">
                <a:solidFill>
                  <a:srgbClr val="555555"/>
                </a:solidFill>
                <a:latin typeface="Calibri"/>
              </a:defRPr>
            </a:pPr>
          </a:p>
          <a:p>
            <a:pPr>
              <a:spcAft>
                <a:spcPts val="400"/>
              </a:spcAft>
              <a:defRPr sz="1200">
                <a:solidFill>
                  <a:srgbClr val="555555"/>
                </a:solidFill>
                <a:latin typeface="Calibri"/>
              </a:defRPr>
            </a:pPr>
            <a:r>
              <a:t>  6x fewer params than ResNet-50,</a:t>
            </a:r>
          </a:p>
          <a:p>
            <a:pPr>
              <a:spcAft>
                <a:spcPts val="400"/>
              </a:spcAft>
              <a:defRPr sz="1200">
                <a:solidFill>
                  <a:srgbClr val="555555"/>
                </a:solidFill>
                <a:latin typeface="Calibri"/>
              </a:defRPr>
            </a:pPr>
            <a:r>
              <a:t>  HIGHER accuracy. Loads in 2 seconds on CPU.</a:t>
            </a:r>
          </a:p>
        </p:txBody>
      </p:sp>
      <p:sp>
        <p:nvSpPr>
          <p:cNvPr id="10" name="Rounded Rectangle 9"/>
          <p:cNvSpPr/>
          <p:nvPr/>
        </p:nvSpPr>
        <p:spPr>
          <a:xfrm>
            <a:off x="6217920" y="1097280"/>
            <a:ext cx="5303520" cy="530352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20"/>
            <a:ext cx="4846320" cy="365760"/>
          </a:xfrm>
          <a:prstGeom prst="rect">
            <a:avLst/>
          </a:prstGeom>
          <a:noFill/>
        </p:spPr>
        <p:txBody>
          <a:bodyPr wrap="square">
            <a:spAutoFit/>
          </a:bodyPr>
          <a:lstStyle/>
          <a:p>
            <a:pPr algn="l">
              <a:defRPr sz="1800" b="1">
                <a:solidFill>
                  <a:srgbClr val="0D8A4E"/>
                </a:solidFill>
                <a:latin typeface="Calibri"/>
              </a:defRPr>
            </a:pPr>
            <a:r>
              <a:t>Two-Phase Transfer Learning</a:t>
            </a:r>
          </a:p>
        </p:txBody>
      </p:sp>
      <p:sp>
        <p:nvSpPr>
          <p:cNvPr id="12" name="TextBox 11"/>
          <p:cNvSpPr txBox="1"/>
          <p:nvPr/>
        </p:nvSpPr>
        <p:spPr>
          <a:xfrm>
            <a:off x="6400800" y="1645920"/>
            <a:ext cx="4846320" cy="4572000"/>
          </a:xfrm>
          <a:prstGeom prst="rect">
            <a:avLst/>
          </a:prstGeom>
          <a:noFill/>
        </p:spPr>
        <p:txBody>
          <a:bodyPr wrap="square">
            <a:spAutoFit/>
          </a:bodyPr>
          <a:lstStyle/>
          <a:p>
            <a:pPr>
              <a:spcAft>
                <a:spcPts val="400"/>
              </a:spcAft>
              <a:defRPr sz="1200">
                <a:solidFill>
                  <a:srgbClr val="555555"/>
                </a:solidFill>
                <a:latin typeface="Calibri"/>
              </a:defRPr>
            </a:pPr>
            <a:r>
              <a:t>PHASE 1: HEAD TRAINING (Backbone FROZEN)</a:t>
            </a:r>
          </a:p>
          <a:p>
            <a:pPr>
              <a:spcAft>
                <a:spcPts val="400"/>
              </a:spcAft>
              <a:defRPr sz="1200">
                <a:solidFill>
                  <a:srgbClr val="555555"/>
                </a:solidFill>
                <a:latin typeface="Calibri"/>
              </a:defRPr>
            </a:pPr>
            <a:r>
              <a:t>  - Freeze all 4M backbone parameters</a:t>
            </a:r>
          </a:p>
          <a:p>
            <a:pPr>
              <a:spcAft>
                <a:spcPts val="400"/>
              </a:spcAft>
              <a:defRPr sz="1200">
                <a:solidFill>
                  <a:srgbClr val="555555"/>
                </a:solidFill>
                <a:latin typeface="Calibri"/>
              </a:defRPr>
            </a:pPr>
            <a:r>
              <a:t>  - Train ONLY the classifier head (2,562 params)</a:t>
            </a:r>
          </a:p>
          <a:p>
            <a:pPr>
              <a:spcAft>
                <a:spcPts val="400"/>
              </a:spcAft>
              <a:defRPr sz="1200">
                <a:solidFill>
                  <a:srgbClr val="555555"/>
                </a:solidFill>
                <a:latin typeface="Calibri"/>
              </a:defRPr>
            </a:pPr>
            <a:r>
              <a:t>  - Learning Rate: 1e-3 (high)</a:t>
            </a:r>
          </a:p>
          <a:p>
            <a:pPr>
              <a:spcAft>
                <a:spcPts val="400"/>
              </a:spcAft>
              <a:defRPr sz="1200">
                <a:solidFill>
                  <a:srgbClr val="555555"/>
                </a:solidFill>
                <a:latin typeface="Calibri"/>
              </a:defRPr>
            </a:pPr>
            <a:r>
              <a:t>  - Epochs: 2</a:t>
            </a:r>
          </a:p>
          <a:p>
            <a:pPr>
              <a:spcAft>
                <a:spcPts val="400"/>
              </a:spcAft>
              <a:defRPr sz="1200">
                <a:solidFill>
                  <a:srgbClr val="555555"/>
                </a:solidFill>
                <a:latin typeface="Calibri"/>
              </a:defRPr>
            </a:pPr>
            <a:r>
              <a:t>  - Result: 75.28% validation accuracy</a:t>
            </a:r>
          </a:p>
          <a:p>
            <a:pPr>
              <a:spcAft>
                <a:spcPts val="400"/>
              </a:spcAft>
              <a:defRPr sz="1200">
                <a:solidFill>
                  <a:srgbClr val="555555"/>
                </a:solidFill>
                <a:latin typeface="Calibri"/>
              </a:defRPr>
            </a:pPr>
          </a:p>
          <a:p>
            <a:pPr>
              <a:spcAft>
                <a:spcPts val="400"/>
              </a:spcAft>
              <a:defRPr sz="1200">
                <a:solidFill>
                  <a:srgbClr val="555555"/>
                </a:solidFill>
                <a:latin typeface="Calibri"/>
              </a:defRPr>
            </a:pPr>
            <a:r>
              <a:t>PHASE 2: FINE-TUNING (Last 3 blocks UNFROZEN)</a:t>
            </a:r>
          </a:p>
          <a:p>
            <a:pPr>
              <a:spcAft>
                <a:spcPts val="400"/>
              </a:spcAft>
              <a:defRPr sz="1200">
                <a:solidFill>
                  <a:srgbClr val="555555"/>
                </a:solidFill>
                <a:latin typeface="Calibri"/>
              </a:defRPr>
            </a:pPr>
            <a:r>
              <a:t>  - Unfreeze last 3 convolutional blocks</a:t>
            </a:r>
          </a:p>
          <a:p>
            <a:pPr>
              <a:spcAft>
                <a:spcPts val="400"/>
              </a:spcAft>
              <a:defRPr sz="1200">
                <a:solidFill>
                  <a:srgbClr val="555555"/>
                </a:solidFill>
                <a:latin typeface="Calibri"/>
              </a:defRPr>
            </a:pPr>
            <a:r>
              <a:t>  - Now 3,158,302 trainable parameters</a:t>
            </a:r>
          </a:p>
          <a:p>
            <a:pPr>
              <a:spcAft>
                <a:spcPts val="400"/>
              </a:spcAft>
              <a:defRPr sz="1200">
                <a:solidFill>
                  <a:srgbClr val="555555"/>
                </a:solidFill>
                <a:latin typeface="Calibri"/>
              </a:defRPr>
            </a:pPr>
            <a:r>
              <a:t>  - Learning Rate: 1e-5 (very low -- careful!)</a:t>
            </a:r>
          </a:p>
          <a:p>
            <a:pPr>
              <a:spcAft>
                <a:spcPts val="400"/>
              </a:spcAft>
              <a:defRPr sz="1200">
                <a:solidFill>
                  <a:srgbClr val="555555"/>
                </a:solidFill>
                <a:latin typeface="Calibri"/>
              </a:defRPr>
            </a:pPr>
            <a:r>
              <a:t>  - ReduceLROnPlateau scheduler</a:t>
            </a:r>
          </a:p>
          <a:p>
            <a:pPr>
              <a:spcAft>
                <a:spcPts val="400"/>
              </a:spcAft>
              <a:defRPr sz="1200">
                <a:solidFill>
                  <a:srgbClr val="555555"/>
                </a:solidFill>
                <a:latin typeface="Calibri"/>
              </a:defRPr>
            </a:pPr>
            <a:r>
              <a:t>  - Epochs: 3 more</a:t>
            </a:r>
          </a:p>
          <a:p>
            <a:pPr>
              <a:spcAft>
                <a:spcPts val="400"/>
              </a:spcAft>
              <a:defRPr sz="1200">
                <a:solidFill>
                  <a:srgbClr val="555555"/>
                </a:solidFill>
                <a:latin typeface="Calibri"/>
              </a:defRPr>
            </a:pPr>
            <a:r>
              <a:t>  - Result: 83.04% validation accuracy</a:t>
            </a:r>
          </a:p>
          <a:p>
            <a:pPr>
              <a:spcAft>
                <a:spcPts val="400"/>
              </a:spcAft>
              <a:defRPr sz="1200">
                <a:solidFill>
                  <a:srgbClr val="555555"/>
                </a:solidFill>
                <a:latin typeface="Calibri"/>
              </a:defRPr>
            </a:pPr>
          </a:p>
          <a:p>
            <a:pPr>
              <a:spcAft>
                <a:spcPts val="400"/>
              </a:spcAft>
              <a:defRPr sz="1200">
                <a:solidFill>
                  <a:srgbClr val="555555"/>
                </a:solidFill>
                <a:latin typeface="Calibri"/>
              </a:defRPr>
            </a:pPr>
            <a:r>
              <a:t>Analogy:</a:t>
            </a:r>
          </a:p>
          <a:p>
            <a:pPr>
              <a:spcAft>
                <a:spcPts val="400"/>
              </a:spcAft>
              <a:defRPr sz="1200">
                <a:solidFill>
                  <a:srgbClr val="555555"/>
                </a:solidFill>
                <a:latin typeface="Calibri"/>
              </a:defRPr>
            </a:pPr>
            <a:r>
              <a:t>  Phase 1 = Medical student learns anatomy</a:t>
            </a:r>
          </a:p>
          <a:p>
            <a:pPr>
              <a:spcAft>
                <a:spcPts val="400"/>
              </a:spcAft>
              <a:defRPr sz="1200">
                <a:solidFill>
                  <a:srgbClr val="555555"/>
                </a:solidFill>
                <a:latin typeface="Calibri"/>
              </a:defRPr>
            </a:pPr>
            <a:r>
              <a:t>  Phase 2 = Practices on real patient X-rays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How CNN Works in This Project</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nn_architecture_1776203655027.png"/>
          <p:cNvPicPr>
            <a:picLocks noChangeAspect="1"/>
          </p:cNvPicPr>
          <p:nvPr/>
        </p:nvPicPr>
        <p:blipFill>
          <a:blip r:embed="rId3"/>
          <a:stretch>
            <a:fillRect/>
          </a:stretch>
        </p:blipFill>
        <p:spPr>
          <a:xfrm>
            <a:off x="274320" y="1097280"/>
            <a:ext cx="5669280" cy="3200400"/>
          </a:xfrm>
          <a:prstGeom prst="rect">
            <a:avLst/>
          </a:prstGeom>
        </p:spPr>
      </p:pic>
      <p:sp>
        <p:nvSpPr>
          <p:cNvPr id="8" name="Rounded Rectangle 7"/>
          <p:cNvSpPr/>
          <p:nvPr/>
        </p:nvSpPr>
        <p:spPr>
          <a:xfrm>
            <a:off x="6217920" y="1097280"/>
            <a:ext cx="5303520" cy="530352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188720"/>
            <a:ext cx="4846320" cy="365760"/>
          </a:xfrm>
          <a:prstGeom prst="rect">
            <a:avLst/>
          </a:prstGeom>
          <a:noFill/>
        </p:spPr>
        <p:txBody>
          <a:bodyPr wrap="square">
            <a:spAutoFit/>
          </a:bodyPr>
          <a:lstStyle/>
          <a:p>
            <a:pPr algn="l">
              <a:defRPr sz="1600" b="1">
                <a:solidFill>
                  <a:srgbClr val="0D8A4E"/>
                </a:solidFill>
                <a:latin typeface="Calibri"/>
              </a:defRPr>
            </a:pPr>
            <a:r>
              <a:t>Step-by-Step: Image to Prediction</a:t>
            </a:r>
          </a:p>
        </p:txBody>
      </p:sp>
      <p:sp>
        <p:nvSpPr>
          <p:cNvPr id="10" name="TextBox 9"/>
          <p:cNvSpPr txBox="1"/>
          <p:nvPr/>
        </p:nvSpPr>
        <p:spPr>
          <a:xfrm>
            <a:off x="6400800" y="1645920"/>
            <a:ext cx="4846320" cy="4754880"/>
          </a:xfrm>
          <a:prstGeom prst="rect">
            <a:avLst/>
          </a:prstGeom>
          <a:noFill/>
        </p:spPr>
        <p:txBody>
          <a:bodyPr wrap="square">
            <a:spAutoFit/>
          </a:bodyPr>
          <a:lstStyle/>
          <a:p>
            <a:pPr>
              <a:spcAft>
                <a:spcPts val="400"/>
              </a:spcAft>
              <a:defRPr sz="1100">
                <a:solidFill>
                  <a:srgbClr val="555555"/>
                </a:solidFill>
                <a:latin typeface="Calibri"/>
              </a:defRPr>
            </a:pPr>
            <a:r>
              <a:t>STEP 1: PREPROCESSING</a:t>
            </a:r>
          </a:p>
          <a:p>
            <a:pPr>
              <a:spcAft>
                <a:spcPts val="400"/>
              </a:spcAft>
              <a:defRPr sz="1100">
                <a:solidFill>
                  <a:srgbClr val="555555"/>
                </a:solidFill>
                <a:latin typeface="Calibri"/>
              </a:defRPr>
            </a:pPr>
            <a:r>
              <a:t>  Image --&gt; Resize 256px --&gt; CenterCrop 224px</a:t>
            </a:r>
          </a:p>
          <a:p>
            <a:pPr>
              <a:spcAft>
                <a:spcPts val="400"/>
              </a:spcAft>
              <a:defRPr sz="1100">
                <a:solidFill>
                  <a:srgbClr val="555555"/>
                </a:solidFill>
                <a:latin typeface="Calibri"/>
              </a:defRPr>
            </a:pPr>
            <a:r>
              <a:t>  Convert to tensor --&gt; Normalize (ImageNet stats)</a:t>
            </a:r>
          </a:p>
          <a:p>
            <a:pPr>
              <a:spcAft>
                <a:spcPts val="400"/>
              </a:spcAft>
              <a:defRPr sz="1100">
                <a:solidFill>
                  <a:srgbClr val="555555"/>
                </a:solidFill>
                <a:latin typeface="Calibri"/>
              </a:defRPr>
            </a:pPr>
          </a:p>
          <a:p>
            <a:pPr>
              <a:spcAft>
                <a:spcPts val="400"/>
              </a:spcAft>
              <a:defRPr sz="1100">
                <a:solidFill>
                  <a:srgbClr val="555555"/>
                </a:solidFill>
                <a:latin typeface="Calibri"/>
              </a:defRPr>
            </a:pPr>
            <a:r>
              <a:t>STEP 2: CONVOLUTIONAL FEATURE EXTRACTION</a:t>
            </a:r>
          </a:p>
          <a:p>
            <a:pPr>
              <a:spcAft>
                <a:spcPts val="400"/>
              </a:spcAft>
              <a:defRPr sz="1100">
                <a:solidFill>
                  <a:srgbClr val="555555"/>
                </a:solidFill>
                <a:latin typeface="Calibri"/>
              </a:defRPr>
            </a:pPr>
            <a:r>
              <a:t>  8 MBConv blocks extract features:</a:t>
            </a:r>
          </a:p>
          <a:p>
            <a:pPr>
              <a:spcAft>
                <a:spcPts val="400"/>
              </a:spcAft>
              <a:defRPr sz="1100">
                <a:solidFill>
                  <a:srgbClr val="555555"/>
                </a:solidFill>
                <a:latin typeface="Calibri"/>
              </a:defRPr>
            </a:pPr>
            <a:r>
              <a:t>  Block 1-2: Low-level (edges, color boundaries)</a:t>
            </a:r>
          </a:p>
          <a:p>
            <a:pPr>
              <a:spcAft>
                <a:spcPts val="400"/>
              </a:spcAft>
              <a:defRPr sz="1100">
                <a:solidFill>
                  <a:srgbClr val="555555"/>
                </a:solidFill>
                <a:latin typeface="Calibri"/>
              </a:defRPr>
            </a:pPr>
            <a:r>
              <a:t>  Block 3-4: Mid-level (face parts, textures)</a:t>
            </a:r>
          </a:p>
          <a:p>
            <a:pPr>
              <a:spcAft>
                <a:spcPts val="400"/>
              </a:spcAft>
              <a:defRPr sz="1100">
                <a:solidFill>
                  <a:srgbClr val="555555"/>
                </a:solidFill>
                <a:latin typeface="Calibri"/>
              </a:defRPr>
            </a:pPr>
            <a:r>
              <a:t>  Block 5-8: High-level (deepfake artifacts)</a:t>
            </a:r>
          </a:p>
          <a:p>
            <a:pPr>
              <a:spcAft>
                <a:spcPts val="400"/>
              </a:spcAft>
              <a:defRPr sz="1100">
                <a:solidFill>
                  <a:srgbClr val="555555"/>
                </a:solidFill>
                <a:latin typeface="Calibri"/>
              </a:defRPr>
            </a:pPr>
          </a:p>
          <a:p>
            <a:pPr>
              <a:spcAft>
                <a:spcPts val="400"/>
              </a:spcAft>
              <a:defRPr sz="1100">
                <a:solidFill>
                  <a:srgbClr val="555555"/>
                </a:solidFill>
                <a:latin typeface="Calibri"/>
              </a:defRPr>
            </a:pPr>
            <a:r>
              <a:t>STEP 3: GLOBAL AVERAGE POOLING</a:t>
            </a:r>
          </a:p>
          <a:p>
            <a:pPr>
              <a:spcAft>
                <a:spcPts val="400"/>
              </a:spcAft>
              <a:defRPr sz="1100">
                <a:solidFill>
                  <a:srgbClr val="555555"/>
                </a:solidFill>
                <a:latin typeface="Calibri"/>
              </a:defRPr>
            </a:pPr>
            <a:r>
              <a:t>  7x7x1280 feature maps --&gt; 1x1280 vector</a:t>
            </a:r>
          </a:p>
          <a:p>
            <a:pPr>
              <a:spcAft>
                <a:spcPts val="400"/>
              </a:spcAft>
              <a:defRPr sz="1100">
                <a:solidFill>
                  <a:srgbClr val="555555"/>
                </a:solidFill>
                <a:latin typeface="Calibri"/>
              </a:defRPr>
            </a:pPr>
            <a:r>
              <a:t>  (summarizes entire image into 1280 numbers)</a:t>
            </a:r>
          </a:p>
          <a:p>
            <a:pPr>
              <a:spcAft>
                <a:spcPts val="400"/>
              </a:spcAft>
              <a:defRPr sz="1100">
                <a:solidFill>
                  <a:srgbClr val="555555"/>
                </a:solidFill>
                <a:latin typeface="Calibri"/>
              </a:defRPr>
            </a:pPr>
          </a:p>
          <a:p>
            <a:pPr>
              <a:spcAft>
                <a:spcPts val="400"/>
              </a:spcAft>
              <a:defRPr sz="1100">
                <a:solidFill>
                  <a:srgbClr val="555555"/>
                </a:solidFill>
                <a:latin typeface="Calibri"/>
              </a:defRPr>
            </a:pPr>
            <a:r>
              <a:t>STEP 4: CLASSIFICATION HEAD</a:t>
            </a:r>
          </a:p>
          <a:p>
            <a:pPr>
              <a:spcAft>
                <a:spcPts val="400"/>
              </a:spcAft>
              <a:defRPr sz="1100">
                <a:solidFill>
                  <a:srgbClr val="555555"/>
                </a:solidFill>
                <a:latin typeface="Calibri"/>
              </a:defRPr>
            </a:pPr>
            <a:r>
              <a:t>  Dropout(0.3) --&gt; Linear(1280, 2)</a:t>
            </a:r>
          </a:p>
          <a:p>
            <a:pPr>
              <a:spcAft>
                <a:spcPts val="400"/>
              </a:spcAft>
              <a:defRPr sz="1100">
                <a:solidFill>
                  <a:srgbClr val="555555"/>
                </a:solidFill>
                <a:latin typeface="Calibri"/>
              </a:defRPr>
            </a:pPr>
          </a:p>
          <a:p>
            <a:pPr>
              <a:spcAft>
                <a:spcPts val="400"/>
              </a:spcAft>
              <a:defRPr sz="1100">
                <a:solidFill>
                  <a:srgbClr val="555555"/>
                </a:solidFill>
                <a:latin typeface="Calibri"/>
              </a:defRPr>
            </a:pPr>
            <a:r>
              <a:t>STEP 5: SOFTMAX + DECISION</a:t>
            </a:r>
          </a:p>
          <a:p>
            <a:pPr>
              <a:spcAft>
                <a:spcPts val="400"/>
              </a:spcAft>
              <a:defRPr sz="1100">
                <a:solidFill>
                  <a:srgbClr val="555555"/>
                </a:solidFill>
                <a:latin typeface="Calibri"/>
              </a:defRPr>
            </a:pPr>
            <a:r>
              <a:t>  Convert to probabilities (Fake%, Real%)</a:t>
            </a:r>
          </a:p>
          <a:p>
            <a:pPr>
              <a:spcAft>
                <a:spcPts val="400"/>
              </a:spcAft>
              <a:defRPr sz="1100">
                <a:solidFill>
                  <a:srgbClr val="555555"/>
                </a:solidFill>
                <a:latin typeface="Calibri"/>
              </a:defRPr>
            </a:pPr>
            <a:r>
              <a:t>  If fake_prob &gt; 50% --&gt; FAKE, else --&gt; REAL</a:t>
            </a:r>
          </a:p>
        </p:txBody>
      </p:sp>
      <p:sp>
        <p:nvSpPr>
          <p:cNvPr id="11" name="Rounded Rectangle 10"/>
          <p:cNvSpPr/>
          <p:nvPr/>
        </p:nvSpPr>
        <p:spPr>
          <a:xfrm>
            <a:off x="274320" y="4572000"/>
            <a:ext cx="5669280" cy="182880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4663440"/>
            <a:ext cx="5303520" cy="320040"/>
          </a:xfrm>
          <a:prstGeom prst="rect">
            <a:avLst/>
          </a:prstGeom>
          <a:noFill/>
        </p:spPr>
        <p:txBody>
          <a:bodyPr wrap="square">
            <a:spAutoFit/>
          </a:bodyPr>
          <a:lstStyle/>
          <a:p>
            <a:pPr algn="l">
              <a:defRPr sz="1400" b="1">
                <a:solidFill>
                  <a:srgbClr val="1A73E8"/>
                </a:solidFill>
                <a:latin typeface="Calibri"/>
              </a:defRPr>
            </a:pPr>
            <a:r>
              <a:t>What Each Layer 'Sees'</a:t>
            </a:r>
          </a:p>
        </p:txBody>
      </p:sp>
      <p:sp>
        <p:nvSpPr>
          <p:cNvPr id="13" name="TextBox 12"/>
          <p:cNvSpPr txBox="1"/>
          <p:nvPr/>
        </p:nvSpPr>
        <p:spPr>
          <a:xfrm>
            <a:off x="457200" y="5029200"/>
            <a:ext cx="5303520" cy="1280160"/>
          </a:xfrm>
          <a:prstGeom prst="rect">
            <a:avLst/>
          </a:prstGeom>
          <a:noFill/>
        </p:spPr>
        <p:txBody>
          <a:bodyPr wrap="square">
            <a:spAutoFit/>
          </a:bodyPr>
          <a:lstStyle/>
          <a:p>
            <a:pPr>
              <a:spcAft>
                <a:spcPts val="400"/>
              </a:spcAft>
              <a:defRPr sz="1100">
                <a:solidFill>
                  <a:srgbClr val="555555"/>
                </a:solidFill>
                <a:latin typeface="Calibri"/>
              </a:defRPr>
            </a:pPr>
            <a:r>
              <a:t>Layer 1-2: Edges, corners, simple textures (from ImageNet)</a:t>
            </a:r>
          </a:p>
          <a:p>
            <a:pPr>
              <a:spcAft>
                <a:spcPts val="400"/>
              </a:spcAft>
              <a:defRPr sz="1100">
                <a:solidFill>
                  <a:srgbClr val="555555"/>
                </a:solidFill>
                <a:latin typeface="Calibri"/>
              </a:defRPr>
            </a:pPr>
            <a:r>
              <a:t>Layer 3-4: Face boundaries, skin patches, eye regions</a:t>
            </a:r>
          </a:p>
          <a:p>
            <a:pPr>
              <a:spcAft>
                <a:spcPts val="400"/>
              </a:spcAft>
              <a:defRPr sz="1100">
                <a:solidFill>
                  <a:srgbClr val="555555"/>
                </a:solidFill>
                <a:latin typeface="Calibri"/>
              </a:defRPr>
            </a:pPr>
            <a:r>
              <a:t>Layer 5-6: Blending artifacts, unnatural transitions</a:t>
            </a:r>
          </a:p>
          <a:p>
            <a:pPr>
              <a:spcAft>
                <a:spcPts val="400"/>
              </a:spcAft>
              <a:defRPr sz="1100">
                <a:solidFill>
                  <a:srgbClr val="555555"/>
                </a:solidFill>
                <a:latin typeface="Calibri"/>
              </a:defRPr>
            </a:pPr>
            <a:r>
              <a:t>Layer 7-8: GAN fingerprints, deepfake features (from our dataset)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Training Results &amp; Accuracy Metrics</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5486400" cy="210312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29200" cy="320040"/>
          </a:xfrm>
          <a:prstGeom prst="rect">
            <a:avLst/>
          </a:prstGeom>
          <a:noFill/>
        </p:spPr>
        <p:txBody>
          <a:bodyPr wrap="square">
            <a:spAutoFit/>
          </a:bodyPr>
          <a:lstStyle/>
          <a:p>
            <a:pPr algn="l">
              <a:defRPr sz="1600" b="1">
                <a:solidFill>
                  <a:srgbClr val="1A73E8"/>
                </a:solidFill>
                <a:latin typeface="Calibri"/>
              </a:defRPr>
            </a:pPr>
            <a:r>
              <a:t>Dataset: 190,335 Images</a:t>
            </a:r>
          </a:p>
        </p:txBody>
      </p:sp>
      <p:sp>
        <p:nvSpPr>
          <p:cNvPr id="9" name="TextBox 8"/>
          <p:cNvSpPr txBox="1"/>
          <p:nvPr/>
        </p:nvSpPr>
        <p:spPr>
          <a:xfrm>
            <a:off x="640080" y="1554480"/>
            <a:ext cx="5029200" cy="1371600"/>
          </a:xfrm>
          <a:prstGeom prst="rect">
            <a:avLst/>
          </a:prstGeom>
          <a:noFill/>
        </p:spPr>
        <p:txBody>
          <a:bodyPr wrap="square">
            <a:spAutoFit/>
          </a:bodyPr>
          <a:lstStyle/>
          <a:p>
            <a:pPr>
              <a:spcAft>
                <a:spcPts val="400"/>
              </a:spcAft>
              <a:defRPr sz="1200">
                <a:solidFill>
                  <a:srgbClr val="555555"/>
                </a:solidFill>
                <a:latin typeface="Calibri"/>
              </a:defRPr>
            </a:pPr>
            <a:r>
              <a:t>Train:       140,002 images (70K Real + 70K Fake)</a:t>
            </a:r>
          </a:p>
          <a:p>
            <a:pPr>
              <a:spcAft>
                <a:spcPts val="400"/>
              </a:spcAft>
              <a:defRPr sz="1200">
                <a:solidFill>
                  <a:srgbClr val="555555"/>
                </a:solidFill>
                <a:latin typeface="Calibri"/>
              </a:defRPr>
            </a:pPr>
            <a:r>
              <a:t>Validation:   39,428 images (19.7K + 19.7K)</a:t>
            </a:r>
          </a:p>
          <a:p>
            <a:pPr>
              <a:spcAft>
                <a:spcPts val="400"/>
              </a:spcAft>
              <a:defRPr sz="1200">
                <a:solidFill>
                  <a:srgbClr val="555555"/>
                </a:solidFill>
                <a:latin typeface="Calibri"/>
              </a:defRPr>
            </a:pPr>
            <a:r>
              <a:t>Test:         10,905 images (5.4K + 5.5K)</a:t>
            </a:r>
          </a:p>
          <a:p>
            <a:pPr>
              <a:spcAft>
                <a:spcPts val="400"/>
              </a:spcAft>
              <a:defRPr sz="1200">
                <a:solidFill>
                  <a:srgbClr val="555555"/>
                </a:solidFill>
                <a:latin typeface="Calibri"/>
              </a:defRPr>
            </a:pPr>
            <a:r>
              <a:t>Balance:      ~50:50 (Real : Fake)</a:t>
            </a:r>
          </a:p>
          <a:p>
            <a:pPr>
              <a:spcAft>
                <a:spcPts val="400"/>
              </a:spcAft>
              <a:defRPr sz="1200">
                <a:solidFill>
                  <a:srgbClr val="555555"/>
                </a:solidFill>
                <a:latin typeface="Calibri"/>
              </a:defRPr>
            </a:pPr>
            <a:r>
              <a:t>Source:       Face swaps + DeepFaceLab + AI-generated</a:t>
            </a:r>
          </a:p>
        </p:txBody>
      </p:sp>
      <p:sp>
        <p:nvSpPr>
          <p:cNvPr id="10" name="Rounded Rectangle 9"/>
          <p:cNvSpPr/>
          <p:nvPr/>
        </p:nvSpPr>
        <p:spPr>
          <a:xfrm>
            <a:off x="6217920" y="1097280"/>
            <a:ext cx="5303520" cy="210312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20"/>
            <a:ext cx="4846320" cy="320040"/>
          </a:xfrm>
          <a:prstGeom prst="rect">
            <a:avLst/>
          </a:prstGeom>
          <a:noFill/>
        </p:spPr>
        <p:txBody>
          <a:bodyPr wrap="square">
            <a:spAutoFit/>
          </a:bodyPr>
          <a:lstStyle/>
          <a:p>
            <a:pPr algn="l">
              <a:defRPr sz="1600" b="1">
                <a:solidFill>
                  <a:srgbClr val="1A73E8"/>
                </a:solidFill>
                <a:latin typeface="Calibri"/>
              </a:defRPr>
            </a:pPr>
            <a:r>
              <a:t>Epoch-by-Epoch Training Log</a:t>
            </a:r>
          </a:p>
        </p:txBody>
      </p:sp>
      <p:sp>
        <p:nvSpPr>
          <p:cNvPr id="12" name="TextBox 11"/>
          <p:cNvSpPr txBox="1"/>
          <p:nvPr/>
        </p:nvSpPr>
        <p:spPr>
          <a:xfrm>
            <a:off x="6400800" y="1554480"/>
            <a:ext cx="4846320" cy="1645920"/>
          </a:xfrm>
          <a:prstGeom prst="rect">
            <a:avLst/>
          </a:prstGeom>
          <a:noFill/>
        </p:spPr>
        <p:txBody>
          <a:bodyPr wrap="square">
            <a:spAutoFit/>
          </a:bodyPr>
          <a:lstStyle/>
          <a:p>
            <a:pPr>
              <a:spcAft>
                <a:spcPts val="400"/>
              </a:spcAft>
              <a:defRPr sz="1100">
                <a:solidFill>
                  <a:srgbClr val="555555"/>
                </a:solidFill>
                <a:latin typeface="Calibri"/>
              </a:defRPr>
            </a:pPr>
            <a:r>
              <a:t>Phase  Epoch  Train Loss  Val Acc   Notes</a:t>
            </a:r>
          </a:p>
          <a:p>
            <a:pPr>
              <a:spcAft>
                <a:spcPts val="400"/>
              </a:spcAft>
              <a:defRPr sz="1100">
                <a:solidFill>
                  <a:srgbClr val="555555"/>
                </a:solidFill>
                <a:latin typeface="Calibri"/>
              </a:defRPr>
            </a:pPr>
            <a:r>
              <a:t>  P1     1      0.5559     75.28%   Initial head</a:t>
            </a:r>
          </a:p>
          <a:p>
            <a:pPr>
              <a:spcAft>
                <a:spcPts val="400"/>
              </a:spcAft>
              <a:defRPr sz="1100">
                <a:solidFill>
                  <a:srgbClr val="555555"/>
                </a:solidFill>
                <a:latin typeface="Calibri"/>
              </a:defRPr>
            </a:pPr>
            <a:r>
              <a:t>  P1     2      0.4887     71.04%   </a:t>
            </a:r>
          </a:p>
          <a:p>
            <a:pPr>
              <a:spcAft>
                <a:spcPts val="400"/>
              </a:spcAft>
              <a:defRPr sz="1100">
                <a:solidFill>
                  <a:srgbClr val="555555"/>
                </a:solidFill>
                <a:latin typeface="Calibri"/>
              </a:defRPr>
            </a:pPr>
            <a:r>
              <a:t>  P2     3      0.4667     78.88%   Fine-tuning starts</a:t>
            </a:r>
          </a:p>
          <a:p>
            <a:pPr>
              <a:spcAft>
                <a:spcPts val="400"/>
              </a:spcAft>
              <a:defRPr sz="1100">
                <a:solidFill>
                  <a:srgbClr val="555555"/>
                </a:solidFill>
                <a:latin typeface="Calibri"/>
              </a:defRPr>
            </a:pPr>
            <a:r>
              <a:t>  P2     4      0.3964     81.44%   Improving</a:t>
            </a:r>
          </a:p>
          <a:p>
            <a:pPr>
              <a:spcAft>
                <a:spcPts val="400"/>
              </a:spcAft>
              <a:defRPr sz="1100">
                <a:solidFill>
                  <a:srgbClr val="555555"/>
                </a:solidFill>
                <a:latin typeface="Calibri"/>
              </a:defRPr>
            </a:pPr>
            <a:r>
              <a:t>  P2     5      0.3534     83.04%   BEST MODEL SAVED</a:t>
            </a:r>
          </a:p>
        </p:txBody>
      </p:sp>
      <p:sp>
        <p:nvSpPr>
          <p:cNvPr id="13" name="Rounded Rectangle 12"/>
          <p:cNvSpPr/>
          <p:nvPr/>
        </p:nvSpPr>
        <p:spPr>
          <a:xfrm>
            <a:off x="457200" y="3474720"/>
            <a:ext cx="3474720" cy="292608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66160"/>
            <a:ext cx="3017520" cy="320040"/>
          </a:xfrm>
          <a:prstGeom prst="rect">
            <a:avLst/>
          </a:prstGeom>
          <a:noFill/>
        </p:spPr>
        <p:txBody>
          <a:bodyPr wrap="square">
            <a:spAutoFit/>
          </a:bodyPr>
          <a:lstStyle/>
          <a:p>
            <a:pPr algn="l">
              <a:defRPr sz="1600" b="1">
                <a:solidFill>
                  <a:srgbClr val="0D8A4E"/>
                </a:solidFill>
                <a:latin typeface="Calibri"/>
              </a:defRPr>
            </a:pPr>
            <a:r>
              <a:t>Accuracy Metrics</a:t>
            </a:r>
          </a:p>
        </p:txBody>
      </p:sp>
      <p:sp>
        <p:nvSpPr>
          <p:cNvPr id="15" name="TextBox 14"/>
          <p:cNvSpPr txBox="1"/>
          <p:nvPr/>
        </p:nvSpPr>
        <p:spPr>
          <a:xfrm>
            <a:off x="640080" y="3931920"/>
            <a:ext cx="3017520" cy="2286000"/>
          </a:xfrm>
          <a:prstGeom prst="rect">
            <a:avLst/>
          </a:prstGeom>
          <a:noFill/>
        </p:spPr>
        <p:txBody>
          <a:bodyPr wrap="square">
            <a:spAutoFit/>
          </a:bodyPr>
          <a:lstStyle/>
          <a:p>
            <a:pPr>
              <a:spcAft>
                <a:spcPts val="400"/>
              </a:spcAft>
              <a:defRPr sz="1200">
                <a:solidFill>
                  <a:srgbClr val="555555"/>
                </a:solidFill>
                <a:latin typeface="Calibri"/>
              </a:defRPr>
            </a:pPr>
            <a:r>
              <a:t>Best Val Accuracy:   83.04%</a:t>
            </a:r>
          </a:p>
          <a:p>
            <a:pPr>
              <a:spcAft>
                <a:spcPts val="400"/>
              </a:spcAft>
              <a:defRPr sz="1200">
                <a:solidFill>
                  <a:srgbClr val="555555"/>
                </a:solidFill>
                <a:latin typeface="Calibri"/>
              </a:defRPr>
            </a:pPr>
            <a:r>
              <a:t>Test Accuracy:       76.64%</a:t>
            </a:r>
          </a:p>
          <a:p>
            <a:pPr>
              <a:spcAft>
                <a:spcPts val="400"/>
              </a:spcAft>
              <a:defRPr sz="1200">
                <a:solidFill>
                  <a:srgbClr val="555555"/>
                </a:solidFill>
                <a:latin typeface="Calibri"/>
              </a:defRPr>
            </a:pPr>
            <a:r>
              <a:t>Test Loss:            0.4714</a:t>
            </a:r>
          </a:p>
          <a:p>
            <a:pPr>
              <a:spcAft>
                <a:spcPts val="400"/>
              </a:spcAft>
              <a:defRPr sz="1200">
                <a:solidFill>
                  <a:srgbClr val="555555"/>
                </a:solidFill>
                <a:latin typeface="Calibri"/>
              </a:defRPr>
            </a:pPr>
            <a:r>
              <a:t>Weighted F1 Score:   76.64%</a:t>
            </a:r>
          </a:p>
          <a:p>
            <a:pPr>
              <a:spcAft>
                <a:spcPts val="400"/>
              </a:spcAft>
              <a:defRPr sz="1200">
                <a:solidFill>
                  <a:srgbClr val="555555"/>
                </a:solidFill>
                <a:latin typeface="Calibri"/>
              </a:defRPr>
            </a:pPr>
          </a:p>
          <a:p>
            <a:pPr>
              <a:spcAft>
                <a:spcPts val="400"/>
              </a:spcAft>
              <a:defRPr sz="1200">
                <a:solidFill>
                  <a:srgbClr val="555555"/>
                </a:solidFill>
                <a:latin typeface="Calibri"/>
              </a:defRPr>
            </a:pPr>
            <a:r>
              <a:t>Loss Reduction:</a:t>
            </a:r>
          </a:p>
          <a:p>
            <a:pPr>
              <a:spcAft>
                <a:spcPts val="400"/>
              </a:spcAft>
              <a:defRPr sz="1200">
                <a:solidFill>
                  <a:srgbClr val="555555"/>
                </a:solidFill>
                <a:latin typeface="Calibri"/>
              </a:defRPr>
            </a:pPr>
            <a:r>
              <a:t>  0.5559 --&gt; 0.3534 (36.4% drop)</a:t>
            </a:r>
          </a:p>
          <a:p>
            <a:pPr>
              <a:spcAft>
                <a:spcPts val="400"/>
              </a:spcAft>
              <a:defRPr sz="1200">
                <a:solidFill>
                  <a:srgbClr val="555555"/>
                </a:solidFill>
                <a:latin typeface="Calibri"/>
              </a:defRPr>
            </a:pPr>
            <a:r>
              <a:t>Accuracy Gain:</a:t>
            </a:r>
          </a:p>
          <a:p>
            <a:pPr>
              <a:spcAft>
                <a:spcPts val="400"/>
              </a:spcAft>
              <a:defRPr sz="1200">
                <a:solidFill>
                  <a:srgbClr val="555555"/>
                </a:solidFill>
                <a:latin typeface="Calibri"/>
              </a:defRPr>
            </a:pPr>
            <a:r>
              <a:t>  70.20% --&gt; 83.04% (+12.84%)</a:t>
            </a:r>
          </a:p>
        </p:txBody>
      </p:sp>
      <p:sp>
        <p:nvSpPr>
          <p:cNvPr id="16" name="Rounded Rectangle 15"/>
          <p:cNvSpPr/>
          <p:nvPr/>
        </p:nvSpPr>
        <p:spPr>
          <a:xfrm>
            <a:off x="4206240" y="3474720"/>
            <a:ext cx="3657600" cy="2926080"/>
          </a:xfrm>
          <a:prstGeom prst="roundRect">
            <a:avLst/>
          </a:prstGeom>
          <a:solidFill>
            <a:srgbClr val="F8F9FA"/>
          </a:solidFill>
          <a:ln w="12700">
            <a:solidFill>
              <a:srgbClr val="D9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0" y="3566160"/>
            <a:ext cx="3200400" cy="320040"/>
          </a:xfrm>
          <a:prstGeom prst="rect">
            <a:avLst/>
          </a:prstGeom>
          <a:noFill/>
        </p:spPr>
        <p:txBody>
          <a:bodyPr wrap="square">
            <a:spAutoFit/>
          </a:bodyPr>
          <a:lstStyle/>
          <a:p>
            <a:pPr algn="l">
              <a:defRPr sz="1600" b="1">
                <a:solidFill>
                  <a:srgbClr val="D93B3B"/>
                </a:solidFill>
                <a:latin typeface="Calibri"/>
              </a:defRPr>
            </a:pPr>
            <a:r>
              <a:t>Classification Report</a:t>
            </a:r>
          </a:p>
        </p:txBody>
      </p:sp>
      <p:sp>
        <p:nvSpPr>
          <p:cNvPr id="18" name="TextBox 17"/>
          <p:cNvSpPr txBox="1"/>
          <p:nvPr/>
        </p:nvSpPr>
        <p:spPr>
          <a:xfrm>
            <a:off x="4389120" y="3931920"/>
            <a:ext cx="3200400" cy="2286000"/>
          </a:xfrm>
          <a:prstGeom prst="rect">
            <a:avLst/>
          </a:prstGeom>
          <a:noFill/>
        </p:spPr>
        <p:txBody>
          <a:bodyPr wrap="square">
            <a:spAutoFit/>
          </a:bodyPr>
          <a:lstStyle/>
          <a:p>
            <a:pPr>
              <a:spcAft>
                <a:spcPts val="400"/>
              </a:spcAft>
              <a:defRPr sz="1100">
                <a:solidFill>
                  <a:srgbClr val="555555"/>
                </a:solidFill>
                <a:latin typeface="Calibri"/>
              </a:defRPr>
            </a:pPr>
            <a:r>
              <a:t>           Precision  Recall  F1-Score</a:t>
            </a:r>
          </a:p>
          <a:p>
            <a:pPr>
              <a:spcAft>
                <a:spcPts val="400"/>
              </a:spcAft>
              <a:defRPr sz="1100">
                <a:solidFill>
                  <a:srgbClr val="555555"/>
                </a:solidFill>
                <a:latin typeface="Calibri"/>
              </a:defRPr>
            </a:pPr>
            <a:r>
              <a:t>Fake:       0.7638   0.7762   0.7700</a:t>
            </a:r>
          </a:p>
          <a:p>
            <a:pPr>
              <a:spcAft>
                <a:spcPts val="400"/>
              </a:spcAft>
              <a:defRPr sz="1100">
                <a:solidFill>
                  <a:srgbClr val="555555"/>
                </a:solidFill>
                <a:latin typeface="Calibri"/>
              </a:defRPr>
            </a:pPr>
            <a:r>
              <a:t>Real:       0.7692   0.7565   0.7628</a:t>
            </a:r>
          </a:p>
          <a:p>
            <a:pPr>
              <a:spcAft>
                <a:spcPts val="400"/>
              </a:spcAft>
              <a:defRPr sz="1100">
                <a:solidFill>
                  <a:srgbClr val="555555"/>
                </a:solidFill>
                <a:latin typeface="Calibri"/>
              </a:defRPr>
            </a:pPr>
          </a:p>
          <a:p>
            <a:pPr>
              <a:spcAft>
                <a:spcPts val="400"/>
              </a:spcAft>
              <a:defRPr sz="1100">
                <a:solidFill>
                  <a:srgbClr val="555555"/>
                </a:solidFill>
                <a:latin typeface="Calibri"/>
              </a:defRPr>
            </a:pPr>
            <a:r>
              <a:t>Confusion Matrix (10,905 test):</a:t>
            </a:r>
          </a:p>
          <a:p>
            <a:pPr>
              <a:spcAft>
                <a:spcPts val="400"/>
              </a:spcAft>
              <a:defRPr sz="1100">
                <a:solidFill>
                  <a:srgbClr val="555555"/>
                </a:solidFill>
                <a:latin typeface="Calibri"/>
              </a:defRPr>
            </a:pPr>
            <a:r>
              <a:t>                  Pred Fake  Pred Real</a:t>
            </a:r>
          </a:p>
          <a:p>
            <a:pPr>
              <a:spcAft>
                <a:spcPts val="400"/>
              </a:spcAft>
              <a:defRPr sz="1100">
                <a:solidFill>
                  <a:srgbClr val="555555"/>
                </a:solidFill>
                <a:latin typeface="Calibri"/>
              </a:defRPr>
            </a:pPr>
            <a:r>
              <a:t>  Actually Fake:   4,263      1,229</a:t>
            </a:r>
          </a:p>
          <a:p>
            <a:pPr>
              <a:spcAft>
                <a:spcPts val="400"/>
              </a:spcAft>
              <a:defRPr sz="1100">
                <a:solidFill>
                  <a:srgbClr val="555555"/>
                </a:solidFill>
                <a:latin typeface="Calibri"/>
              </a:defRPr>
            </a:pPr>
            <a:r>
              <a:t>  Actually Real:   1,318      4,095</a:t>
            </a:r>
          </a:p>
        </p:txBody>
      </p:sp>
      <p:sp>
        <p:nvSpPr>
          <p:cNvPr id="19" name="Rounded Rectangle 18"/>
          <p:cNvSpPr/>
          <p:nvPr/>
        </p:nvSpPr>
        <p:spPr>
          <a:xfrm>
            <a:off x="8138160" y="3474720"/>
            <a:ext cx="3383280" cy="2926080"/>
          </a:xfrm>
          <a:prstGeom prst="roundRect">
            <a:avLst/>
          </a:prstGeom>
          <a:solidFill>
            <a:srgbClr val="F8F9FA"/>
          </a:solidFill>
          <a:ln w="12700">
            <a:solidFill>
              <a:srgbClr val="6C3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566160"/>
            <a:ext cx="2926080" cy="320040"/>
          </a:xfrm>
          <a:prstGeom prst="rect">
            <a:avLst/>
          </a:prstGeom>
          <a:noFill/>
        </p:spPr>
        <p:txBody>
          <a:bodyPr wrap="square">
            <a:spAutoFit/>
          </a:bodyPr>
          <a:lstStyle/>
          <a:p>
            <a:pPr algn="l">
              <a:defRPr sz="1600" b="1">
                <a:solidFill>
                  <a:srgbClr val="6C3CB0"/>
                </a:solidFill>
                <a:latin typeface="Calibri"/>
              </a:defRPr>
            </a:pPr>
            <a:r>
              <a:t>Data Augmentation</a:t>
            </a:r>
          </a:p>
        </p:txBody>
      </p:sp>
      <p:sp>
        <p:nvSpPr>
          <p:cNvPr id="21" name="TextBox 20"/>
          <p:cNvSpPr txBox="1"/>
          <p:nvPr/>
        </p:nvSpPr>
        <p:spPr>
          <a:xfrm>
            <a:off x="8321040" y="3931920"/>
            <a:ext cx="2926080" cy="2286000"/>
          </a:xfrm>
          <a:prstGeom prst="rect">
            <a:avLst/>
          </a:prstGeom>
          <a:noFill/>
        </p:spPr>
        <p:txBody>
          <a:bodyPr wrap="square">
            <a:spAutoFit/>
          </a:bodyPr>
          <a:lstStyle/>
          <a:p>
            <a:pPr>
              <a:spcAft>
                <a:spcPts val="400"/>
              </a:spcAft>
              <a:defRPr sz="1100">
                <a:solidFill>
                  <a:srgbClr val="555555"/>
                </a:solidFill>
                <a:latin typeface="Calibri"/>
              </a:defRPr>
            </a:pPr>
            <a:r>
              <a:t>RandomResizedCrop (224px)</a:t>
            </a:r>
          </a:p>
          <a:p>
            <a:pPr>
              <a:spcAft>
                <a:spcPts val="400"/>
              </a:spcAft>
              <a:defRPr sz="1100">
                <a:solidFill>
                  <a:srgbClr val="555555"/>
                </a:solidFill>
                <a:latin typeface="Calibri"/>
              </a:defRPr>
            </a:pPr>
            <a:r>
              <a:t>RandomHorizontalFlip (p=0.5)</a:t>
            </a:r>
          </a:p>
          <a:p>
            <a:pPr>
              <a:spcAft>
                <a:spcPts val="400"/>
              </a:spcAft>
              <a:defRPr sz="1100">
                <a:solidFill>
                  <a:srgbClr val="555555"/>
                </a:solidFill>
                <a:latin typeface="Calibri"/>
              </a:defRPr>
            </a:pPr>
            <a:r>
              <a:t>RandomRotation (+/-15 deg)</a:t>
            </a:r>
          </a:p>
          <a:p>
            <a:pPr>
              <a:spcAft>
                <a:spcPts val="400"/>
              </a:spcAft>
              <a:defRPr sz="1100">
                <a:solidFill>
                  <a:srgbClr val="555555"/>
                </a:solidFill>
                <a:latin typeface="Calibri"/>
              </a:defRPr>
            </a:pPr>
            <a:r>
              <a:t>ColorJitter (brightness,</a:t>
            </a:r>
          </a:p>
          <a:p>
            <a:pPr>
              <a:spcAft>
                <a:spcPts val="400"/>
              </a:spcAft>
              <a:defRPr sz="1100">
                <a:solidFill>
                  <a:srgbClr val="555555"/>
                </a:solidFill>
                <a:latin typeface="Calibri"/>
              </a:defRPr>
            </a:pPr>
            <a:r>
              <a:t>  contrast, saturation, hue)</a:t>
            </a:r>
          </a:p>
          <a:p>
            <a:pPr>
              <a:spcAft>
                <a:spcPts val="400"/>
              </a:spcAft>
              <a:defRPr sz="1100">
                <a:solidFill>
                  <a:srgbClr val="555555"/>
                </a:solidFill>
                <a:latin typeface="Calibri"/>
              </a:defRPr>
            </a:pPr>
            <a:r>
              <a:t>RandomGrayscale (p=0.05)</a:t>
            </a:r>
          </a:p>
          <a:p>
            <a:pPr>
              <a:spcAft>
                <a:spcPts val="400"/>
              </a:spcAft>
              <a:defRPr sz="1100">
                <a:solidFill>
                  <a:srgbClr val="555555"/>
                </a:solidFill>
                <a:latin typeface="Calibri"/>
              </a:defRPr>
            </a:pPr>
            <a:r>
              <a:t>ImageNet Normalization</a:t>
            </a:r>
          </a:p>
          <a:p>
            <a:pPr>
              <a:spcAft>
                <a:spcPts val="400"/>
              </a:spcAft>
              <a:defRPr sz="1100">
                <a:solidFill>
                  <a:srgbClr val="555555"/>
                </a:solidFill>
                <a:latin typeface="Calibri"/>
              </a:defRPr>
            </a:pPr>
          </a:p>
          <a:p>
            <a:pPr>
              <a:spcAft>
                <a:spcPts val="400"/>
              </a:spcAft>
              <a:defRPr sz="1100">
                <a:solidFill>
                  <a:srgbClr val="555555"/>
                </a:solidFill>
                <a:latin typeface="Calibri"/>
              </a:defRPr>
            </a:pPr>
            <a:r>
              <a:t>Optimizer: Adam</a:t>
            </a:r>
          </a:p>
          <a:p>
            <a:pPr>
              <a:spcAft>
                <a:spcPts val="400"/>
              </a:spcAft>
              <a:defRPr sz="1100">
                <a:solidFill>
                  <a:srgbClr val="555555"/>
                </a:solidFill>
                <a:latin typeface="Calibri"/>
              </a:defRPr>
            </a:pPr>
            <a:r>
              <a:t>Loss: CrossEntropyLoss</a:t>
            </a:r>
          </a:p>
          <a:p>
            <a:pPr>
              <a:spcAft>
                <a:spcPts val="400"/>
              </a:spcAft>
              <a:defRPr sz="1100">
                <a:solidFill>
                  <a:srgbClr val="555555"/>
                </a:solidFill>
                <a:latin typeface="Calibri"/>
              </a:defRPr>
            </a:pPr>
            <a:r>
              <a:t>Scheduler: ReduceLROnPlateau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Explainability: Grad-CAM (XAI)</a:t>
            </a:r>
          </a:p>
        </p:txBody>
      </p:sp>
      <p:sp>
        <p:nvSpPr>
          <p:cNvPr id="6" name="Rectangle 5"/>
          <p:cNvSpPr/>
          <p:nvPr/>
        </p:nvSpPr>
        <p:spPr>
          <a:xfrm>
            <a:off x="1645920" y="777240"/>
            <a:ext cx="27432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5943600" cy="530352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486400" cy="365760"/>
          </a:xfrm>
          <a:prstGeom prst="rect">
            <a:avLst/>
          </a:prstGeom>
          <a:noFill/>
        </p:spPr>
        <p:txBody>
          <a:bodyPr wrap="square">
            <a:spAutoFit/>
          </a:bodyPr>
          <a:lstStyle/>
          <a:p>
            <a:pPr algn="l">
              <a:defRPr sz="1600" b="1">
                <a:solidFill>
                  <a:srgbClr val="1A73E8"/>
                </a:solidFill>
                <a:latin typeface="Calibri"/>
              </a:defRPr>
            </a:pPr>
            <a:r>
              <a:t>Gradient-weighted Class Activation Mapping</a:t>
            </a:r>
          </a:p>
        </p:txBody>
      </p:sp>
      <p:sp>
        <p:nvSpPr>
          <p:cNvPr id="9" name="TextBox 8"/>
          <p:cNvSpPr txBox="1"/>
          <p:nvPr/>
        </p:nvSpPr>
        <p:spPr>
          <a:xfrm>
            <a:off x="640080" y="1554480"/>
            <a:ext cx="5486400" cy="365760"/>
          </a:xfrm>
          <a:prstGeom prst="rect">
            <a:avLst/>
          </a:prstGeom>
          <a:noFill/>
        </p:spPr>
        <p:txBody>
          <a:bodyPr wrap="square">
            <a:spAutoFit/>
          </a:bodyPr>
          <a:lstStyle/>
          <a:p>
            <a:pPr algn="l">
              <a:defRPr sz="1400" b="1">
                <a:solidFill>
                  <a:srgbClr val="333333"/>
                </a:solidFill>
                <a:latin typeface="Calibri"/>
              </a:defRPr>
            </a:pPr>
            <a:r>
              <a:t>Answers: 'WHY did the model think this image is fake/real?'</a:t>
            </a:r>
          </a:p>
        </p:txBody>
      </p:sp>
      <p:sp>
        <p:nvSpPr>
          <p:cNvPr id="10" name="TextBox 9"/>
          <p:cNvSpPr txBox="1"/>
          <p:nvPr/>
        </p:nvSpPr>
        <p:spPr>
          <a:xfrm>
            <a:off x="640080" y="1828800"/>
            <a:ext cx="5486400" cy="4389120"/>
          </a:xfrm>
          <a:prstGeom prst="rect">
            <a:avLst/>
          </a:prstGeom>
          <a:noFill/>
        </p:spPr>
        <p:txBody>
          <a:bodyPr wrap="square">
            <a:spAutoFit/>
          </a:bodyPr>
          <a:lstStyle/>
          <a:p>
            <a:pPr>
              <a:spcAft>
                <a:spcPts val="400"/>
              </a:spcAft>
              <a:defRPr sz="1300">
                <a:solidFill>
                  <a:srgbClr val="555555"/>
                </a:solidFill>
                <a:latin typeface="Calibri"/>
              </a:defRPr>
            </a:pPr>
          </a:p>
          <a:p>
            <a:pPr>
              <a:spcAft>
                <a:spcPts val="400"/>
              </a:spcAft>
              <a:defRPr sz="1300">
                <a:solidFill>
                  <a:srgbClr val="555555"/>
                </a:solidFill>
                <a:latin typeface="Calibri"/>
              </a:defRPr>
            </a:pPr>
            <a:r>
              <a:t>How Grad-CAM works (5 steps):</a:t>
            </a:r>
          </a:p>
          <a:p>
            <a:pPr>
              <a:spcAft>
                <a:spcPts val="400"/>
              </a:spcAft>
              <a:defRPr sz="1300">
                <a:solidFill>
                  <a:srgbClr val="555555"/>
                </a:solidFill>
                <a:latin typeface="Calibri"/>
              </a:defRPr>
            </a:pPr>
          </a:p>
          <a:p>
            <a:pPr>
              <a:spcAft>
                <a:spcPts val="400"/>
              </a:spcAft>
              <a:defRPr sz="1300">
                <a:solidFill>
                  <a:srgbClr val="555555"/>
                </a:solidFill>
                <a:latin typeface="Calibri"/>
              </a:defRPr>
            </a:pPr>
            <a:r>
              <a:t>1. FORWARD PASS</a:t>
            </a:r>
          </a:p>
          <a:p>
            <a:pPr>
              <a:spcAft>
                <a:spcPts val="400"/>
              </a:spcAft>
              <a:defRPr sz="1300">
                <a:solidFill>
                  <a:srgbClr val="555555"/>
                </a:solidFill>
                <a:latin typeface="Calibri"/>
              </a:defRPr>
            </a:pPr>
            <a:r>
              <a:t>   Feed image through EfficientNet, get prediction</a:t>
            </a:r>
          </a:p>
          <a:p>
            <a:pPr>
              <a:spcAft>
                <a:spcPts val="400"/>
              </a:spcAft>
              <a:defRPr sz="1300">
                <a:solidFill>
                  <a:srgbClr val="555555"/>
                </a:solidFill>
                <a:latin typeface="Calibri"/>
              </a:defRPr>
            </a:pPr>
          </a:p>
          <a:p>
            <a:pPr>
              <a:spcAft>
                <a:spcPts val="400"/>
              </a:spcAft>
              <a:defRPr sz="1300">
                <a:solidFill>
                  <a:srgbClr val="555555"/>
                </a:solidFill>
                <a:latin typeface="Calibri"/>
              </a:defRPr>
            </a:pPr>
            <a:r>
              <a:t>2. BACKWARD PASS</a:t>
            </a:r>
          </a:p>
          <a:p>
            <a:pPr>
              <a:spcAft>
                <a:spcPts val="400"/>
              </a:spcAft>
              <a:defRPr sz="1300">
                <a:solidFill>
                  <a:srgbClr val="555555"/>
                </a:solidFill>
                <a:latin typeface="Calibri"/>
              </a:defRPr>
            </a:pPr>
            <a:r>
              <a:t>   Compute gradients of the 'fake' class score</a:t>
            </a:r>
          </a:p>
          <a:p>
            <a:pPr>
              <a:spcAft>
                <a:spcPts val="400"/>
              </a:spcAft>
              <a:defRPr sz="1300">
                <a:solidFill>
                  <a:srgbClr val="555555"/>
                </a:solidFill>
                <a:latin typeface="Calibri"/>
              </a:defRPr>
            </a:pPr>
            <a:r>
              <a:t>   with respect to last convolutional layer</a:t>
            </a:r>
          </a:p>
          <a:p>
            <a:pPr>
              <a:spcAft>
                <a:spcPts val="400"/>
              </a:spcAft>
              <a:defRPr sz="1300">
                <a:solidFill>
                  <a:srgbClr val="555555"/>
                </a:solidFill>
                <a:latin typeface="Calibri"/>
              </a:defRPr>
            </a:pPr>
          </a:p>
          <a:p>
            <a:pPr>
              <a:spcAft>
                <a:spcPts val="400"/>
              </a:spcAft>
              <a:defRPr sz="1300">
                <a:solidFill>
                  <a:srgbClr val="555555"/>
                </a:solidFill>
                <a:latin typeface="Calibri"/>
              </a:defRPr>
            </a:pPr>
            <a:r>
              <a:t>3. WEIGHT FEATURE MAPS</a:t>
            </a:r>
          </a:p>
          <a:p>
            <a:pPr>
              <a:spcAft>
                <a:spcPts val="400"/>
              </a:spcAft>
              <a:defRPr sz="1300">
                <a:solidFill>
                  <a:srgbClr val="555555"/>
                </a:solidFill>
                <a:latin typeface="Calibri"/>
              </a:defRPr>
            </a:pPr>
            <a:r>
              <a:t>   Each channel gets weight = avg of its gradients</a:t>
            </a:r>
          </a:p>
          <a:p>
            <a:pPr>
              <a:spcAft>
                <a:spcPts val="400"/>
              </a:spcAft>
              <a:defRPr sz="1300">
                <a:solidFill>
                  <a:srgbClr val="555555"/>
                </a:solidFill>
                <a:latin typeface="Calibri"/>
              </a:defRPr>
            </a:pPr>
          </a:p>
          <a:p>
            <a:pPr>
              <a:spcAft>
                <a:spcPts val="400"/>
              </a:spcAft>
              <a:defRPr sz="1300">
                <a:solidFill>
                  <a:srgbClr val="555555"/>
                </a:solidFill>
                <a:latin typeface="Calibri"/>
              </a:defRPr>
            </a:pPr>
            <a:r>
              <a:t>4. COMBINE</a:t>
            </a:r>
          </a:p>
          <a:p>
            <a:pPr>
              <a:spcAft>
                <a:spcPts val="400"/>
              </a:spcAft>
              <a:defRPr sz="1300">
                <a:solidFill>
                  <a:srgbClr val="555555"/>
                </a:solidFill>
                <a:latin typeface="Calibri"/>
              </a:defRPr>
            </a:pPr>
            <a:r>
              <a:t>   Weighted sum of all feature maps --&gt; Apply ReLU</a:t>
            </a:r>
          </a:p>
          <a:p>
            <a:pPr>
              <a:spcAft>
                <a:spcPts val="400"/>
              </a:spcAft>
              <a:defRPr sz="1300">
                <a:solidFill>
                  <a:srgbClr val="555555"/>
                </a:solidFill>
                <a:latin typeface="Calibri"/>
              </a:defRPr>
            </a:pPr>
          </a:p>
          <a:p>
            <a:pPr>
              <a:spcAft>
                <a:spcPts val="400"/>
              </a:spcAft>
              <a:defRPr sz="1300">
                <a:solidFill>
                  <a:srgbClr val="555555"/>
                </a:solidFill>
                <a:latin typeface="Calibri"/>
              </a:defRPr>
            </a:pPr>
            <a:r>
              <a:t>5. VISUALIZE</a:t>
            </a:r>
          </a:p>
          <a:p>
            <a:pPr>
              <a:spcAft>
                <a:spcPts val="400"/>
              </a:spcAft>
              <a:defRPr sz="1300">
                <a:solidFill>
                  <a:srgbClr val="555555"/>
                </a:solidFill>
                <a:latin typeface="Calibri"/>
              </a:defRPr>
            </a:pPr>
            <a:r>
              <a:t>   Resize to image size --&gt; Overlay as colored heatmap</a:t>
            </a:r>
          </a:p>
          <a:p>
            <a:pPr>
              <a:spcAft>
                <a:spcPts val="400"/>
              </a:spcAft>
              <a:defRPr sz="1300">
                <a:solidFill>
                  <a:srgbClr val="555555"/>
                </a:solidFill>
                <a:latin typeface="Calibri"/>
              </a:defRPr>
            </a:pPr>
            <a:r>
              <a:t>   RED = model focused here (suspicious)</a:t>
            </a:r>
          </a:p>
          <a:p>
            <a:pPr>
              <a:spcAft>
                <a:spcPts val="400"/>
              </a:spcAft>
              <a:defRPr sz="1300">
                <a:solidFill>
                  <a:srgbClr val="555555"/>
                </a:solidFill>
                <a:latin typeface="Calibri"/>
              </a:defRPr>
            </a:pPr>
            <a:r>
              <a:t>   BLUE = model ignored (normal)</a:t>
            </a:r>
          </a:p>
        </p:txBody>
      </p:sp>
      <p:sp>
        <p:nvSpPr>
          <p:cNvPr id="11" name="Rounded Rectangle 10"/>
          <p:cNvSpPr/>
          <p:nvPr/>
        </p:nvSpPr>
        <p:spPr>
          <a:xfrm>
            <a:off x="6675120" y="1097280"/>
            <a:ext cx="4846320" cy="530352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188720"/>
            <a:ext cx="4389120" cy="365760"/>
          </a:xfrm>
          <a:prstGeom prst="rect">
            <a:avLst/>
          </a:prstGeom>
          <a:noFill/>
        </p:spPr>
        <p:txBody>
          <a:bodyPr wrap="square">
            <a:spAutoFit/>
          </a:bodyPr>
          <a:lstStyle/>
          <a:p>
            <a:pPr algn="l">
              <a:defRPr sz="1600" b="1">
                <a:solidFill>
                  <a:srgbClr val="1A73E8"/>
                </a:solidFill>
                <a:latin typeface="Calibri"/>
              </a:defRPr>
            </a:pPr>
            <a:r>
              <a:t>Why XAI Matters</a:t>
            </a:r>
          </a:p>
        </p:txBody>
      </p:sp>
      <p:sp>
        <p:nvSpPr>
          <p:cNvPr id="13" name="TextBox 12"/>
          <p:cNvSpPr txBox="1"/>
          <p:nvPr/>
        </p:nvSpPr>
        <p:spPr>
          <a:xfrm>
            <a:off x="6858000" y="1645920"/>
            <a:ext cx="4389120" cy="4572000"/>
          </a:xfrm>
          <a:prstGeom prst="rect">
            <a:avLst/>
          </a:prstGeom>
          <a:noFill/>
        </p:spPr>
        <p:txBody>
          <a:bodyPr wrap="square">
            <a:spAutoFit/>
          </a:bodyPr>
          <a:lstStyle/>
          <a:p>
            <a:pPr>
              <a:spcAft>
                <a:spcPts val="400"/>
              </a:spcAft>
              <a:defRPr sz="1200">
                <a:solidFill>
                  <a:srgbClr val="555555"/>
                </a:solidFill>
                <a:latin typeface="Calibri"/>
              </a:defRPr>
            </a:pPr>
            <a:r>
              <a:t>Without XAI:</a:t>
            </a:r>
          </a:p>
          <a:p>
            <a:pPr>
              <a:spcAft>
                <a:spcPts val="400"/>
              </a:spcAft>
              <a:defRPr sz="1200">
                <a:solidFill>
                  <a:srgbClr val="555555"/>
                </a:solidFill>
                <a:latin typeface="Calibri"/>
              </a:defRPr>
            </a:pPr>
            <a:r>
              <a:t>  Model is a BLACK BOX</a:t>
            </a:r>
          </a:p>
          <a:p>
            <a:pPr>
              <a:spcAft>
                <a:spcPts val="400"/>
              </a:spcAft>
              <a:defRPr sz="1200">
                <a:solidFill>
                  <a:srgbClr val="555555"/>
                </a:solidFill>
                <a:latin typeface="Calibri"/>
              </a:defRPr>
            </a:pPr>
            <a:r>
              <a:t>  Says 'FAKE' but gives no reason</a:t>
            </a:r>
          </a:p>
          <a:p>
            <a:pPr>
              <a:spcAft>
                <a:spcPts val="400"/>
              </a:spcAft>
              <a:defRPr sz="1200">
                <a:solidFill>
                  <a:srgbClr val="555555"/>
                </a:solidFill>
                <a:latin typeface="Calibri"/>
              </a:defRPr>
            </a:pPr>
            <a:r>
              <a:t>  Users can't trust or verify</a:t>
            </a:r>
          </a:p>
          <a:p>
            <a:pPr>
              <a:spcAft>
                <a:spcPts val="400"/>
              </a:spcAft>
              <a:defRPr sz="1200">
                <a:solidFill>
                  <a:srgbClr val="555555"/>
                </a:solidFill>
                <a:latin typeface="Calibri"/>
              </a:defRPr>
            </a:pPr>
          </a:p>
          <a:p>
            <a:pPr>
              <a:spcAft>
                <a:spcPts val="400"/>
              </a:spcAft>
              <a:defRPr sz="1200">
                <a:solidFill>
                  <a:srgbClr val="555555"/>
                </a:solidFill>
                <a:latin typeface="Calibri"/>
              </a:defRPr>
            </a:pPr>
            <a:r>
              <a:t>With Grad-CAM:</a:t>
            </a:r>
          </a:p>
          <a:p>
            <a:pPr>
              <a:spcAft>
                <a:spcPts val="400"/>
              </a:spcAft>
              <a:defRPr sz="1200">
                <a:solidFill>
                  <a:srgbClr val="555555"/>
                </a:solidFill>
                <a:latin typeface="Calibri"/>
              </a:defRPr>
            </a:pPr>
            <a:r>
              <a:t>  Model is TRANSPARENT</a:t>
            </a:r>
          </a:p>
          <a:p>
            <a:pPr>
              <a:spcAft>
                <a:spcPts val="400"/>
              </a:spcAft>
              <a:defRPr sz="1200">
                <a:solidFill>
                  <a:srgbClr val="555555"/>
                </a:solidFill>
                <a:latin typeface="Calibri"/>
              </a:defRPr>
            </a:pPr>
            <a:r>
              <a:t>  Shows exactly which pixels mattered</a:t>
            </a:r>
          </a:p>
          <a:p>
            <a:pPr>
              <a:spcAft>
                <a:spcPts val="400"/>
              </a:spcAft>
              <a:defRPr sz="1200">
                <a:solidFill>
                  <a:srgbClr val="555555"/>
                </a:solidFill>
                <a:latin typeface="Calibri"/>
              </a:defRPr>
            </a:pPr>
            <a:r>
              <a:t>  Users can verify the decision</a:t>
            </a:r>
          </a:p>
          <a:p>
            <a:pPr>
              <a:spcAft>
                <a:spcPts val="400"/>
              </a:spcAft>
              <a:defRPr sz="1200">
                <a:solidFill>
                  <a:srgbClr val="555555"/>
                </a:solidFill>
                <a:latin typeface="Calibri"/>
              </a:defRPr>
            </a:pPr>
            <a:r>
              <a:t>  Builds trust and accountability</a:t>
            </a:r>
          </a:p>
          <a:p>
            <a:pPr>
              <a:spcAft>
                <a:spcPts val="400"/>
              </a:spcAft>
              <a:defRPr sz="1200">
                <a:solidFill>
                  <a:srgbClr val="555555"/>
                </a:solidFill>
                <a:latin typeface="Calibri"/>
              </a:defRPr>
            </a:pPr>
          </a:p>
          <a:p>
            <a:pPr>
              <a:spcAft>
                <a:spcPts val="400"/>
              </a:spcAft>
              <a:defRPr sz="1200">
                <a:solidFill>
                  <a:srgbClr val="555555"/>
                </a:solidFill>
                <a:latin typeface="Calibri"/>
              </a:defRPr>
            </a:pPr>
            <a:r>
              <a:t>Real Code (model_loader.py):</a:t>
            </a:r>
          </a:p>
          <a:p>
            <a:pPr>
              <a:spcAft>
                <a:spcPts val="400"/>
              </a:spcAft>
              <a:defRPr sz="1200">
                <a:solidFill>
                  <a:srgbClr val="555555"/>
                </a:solidFill>
                <a:latin typeface="Calibri"/>
              </a:defRPr>
            </a:pPr>
            <a:r>
              <a:t>  target_layer = model.features[-1]</a:t>
            </a:r>
          </a:p>
          <a:p>
            <a:pPr>
              <a:spcAft>
                <a:spcPts val="400"/>
              </a:spcAft>
              <a:defRPr sz="1200">
                <a:solidFill>
                  <a:srgbClr val="555555"/>
                </a:solidFill>
                <a:latin typeface="Calibri"/>
              </a:defRPr>
            </a:pPr>
            <a:r>
              <a:t>  Uses register_forward_hook()</a:t>
            </a:r>
          </a:p>
          <a:p>
            <a:pPr>
              <a:spcAft>
                <a:spcPts val="400"/>
              </a:spcAft>
              <a:defRPr sz="1200">
                <a:solidFill>
                  <a:srgbClr val="555555"/>
                </a:solidFill>
                <a:latin typeface="Calibri"/>
              </a:defRPr>
            </a:pPr>
            <a:r>
              <a:t>  and register_full_backward_hook()</a:t>
            </a:r>
          </a:p>
          <a:p>
            <a:pPr>
              <a:spcAft>
                <a:spcPts val="400"/>
              </a:spcAft>
              <a:defRPr sz="1200">
                <a:solidFill>
                  <a:srgbClr val="555555"/>
                </a:solidFill>
                <a:latin typeface="Calibri"/>
              </a:defRPr>
            </a:pPr>
            <a:r>
              <a:t>  for TRUE gradient computation</a:t>
            </a:r>
          </a:p>
          <a:p>
            <a:pPr>
              <a:spcAft>
                <a:spcPts val="400"/>
              </a:spcAft>
              <a:defRPr sz="1200">
                <a:solidFill>
                  <a:srgbClr val="555555"/>
                </a:solidFill>
                <a:latin typeface="Calibri"/>
              </a:defRPr>
            </a:pPr>
          </a:p>
          <a:p>
            <a:pPr>
              <a:spcAft>
                <a:spcPts val="400"/>
              </a:spcAft>
              <a:defRPr sz="1200">
                <a:solidFill>
                  <a:srgbClr val="555555"/>
                </a:solidFill>
                <a:latin typeface="Calibri"/>
              </a:defRPr>
            </a:pPr>
            <a:r>
              <a:t>Our Implementation:</a:t>
            </a:r>
          </a:p>
          <a:p>
            <a:pPr>
              <a:spcAft>
                <a:spcPts val="400"/>
              </a:spcAft>
              <a:defRPr sz="1200">
                <a:solidFill>
                  <a:srgbClr val="555555"/>
                </a:solidFill>
                <a:latin typeface="Calibri"/>
              </a:defRPr>
            </a:pPr>
            <a:r>
              <a:t>  Not an approximation --</a:t>
            </a:r>
          </a:p>
          <a:p>
            <a:pPr>
              <a:spcAft>
                <a:spcPts val="400"/>
              </a:spcAft>
              <a:defRPr sz="1200">
                <a:solidFill>
                  <a:srgbClr val="555555"/>
                </a:solidFill>
                <a:latin typeface="Calibri"/>
              </a:defRPr>
            </a:pPr>
            <a:r>
              <a:t>  Real gradients from real backprop</a:t>
            </a:r>
          </a:p>
          <a:p>
            <a:pPr>
              <a:spcAft>
                <a:spcPts val="400"/>
              </a:spcAft>
              <a:defRPr sz="1200">
                <a:solidFill>
                  <a:srgbClr val="555555"/>
                </a:solidFill>
                <a:latin typeface="Calibri"/>
              </a:defRPr>
            </a:pPr>
            <a:r>
              <a:t>  Target: last conv block of EfficientNet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Score Fusion: Final Decision Logic</a:t>
            </a:r>
          </a:p>
        </p:txBody>
      </p:sp>
      <p:sp>
        <p:nvSpPr>
          <p:cNvPr id="6" name="Rectangle 5"/>
          <p:cNvSpPr/>
          <p:nvPr/>
        </p:nvSpPr>
        <p:spPr>
          <a:xfrm>
            <a:off x="1645920" y="777240"/>
            <a:ext cx="36576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71600" y="1371600"/>
            <a:ext cx="9418320" cy="1280160"/>
          </a:xfrm>
          <a:prstGeom prst="roundRect">
            <a:avLst/>
          </a:prstGeom>
          <a:solidFill>
            <a:srgbClr val="F8F9FA"/>
          </a:solidFill>
          <a:ln w="127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63040"/>
            <a:ext cx="8869680" cy="548640"/>
          </a:xfrm>
          <a:prstGeom prst="rect">
            <a:avLst/>
          </a:prstGeom>
          <a:noFill/>
        </p:spPr>
        <p:txBody>
          <a:bodyPr wrap="square">
            <a:spAutoFit/>
          </a:bodyPr>
          <a:lstStyle/>
          <a:p>
            <a:pPr algn="ctr">
              <a:defRPr sz="2200" b="1">
                <a:solidFill>
                  <a:srgbClr val="8B0000"/>
                </a:solidFill>
                <a:latin typeface="Calibri"/>
              </a:defRPr>
            </a:pPr>
            <a:r>
              <a:t>Final Score  =  80%  x  EfficientNet Model  +  20%  x  Forensic Heuristics</a:t>
            </a:r>
          </a:p>
        </p:txBody>
      </p:sp>
      <p:sp>
        <p:nvSpPr>
          <p:cNvPr id="9" name="TextBox 8"/>
          <p:cNvSpPr txBox="1"/>
          <p:nvPr/>
        </p:nvSpPr>
        <p:spPr>
          <a:xfrm>
            <a:off x="1645920" y="2011680"/>
            <a:ext cx="8869680" cy="457200"/>
          </a:xfrm>
          <a:prstGeom prst="rect">
            <a:avLst/>
          </a:prstGeom>
          <a:noFill/>
        </p:spPr>
        <p:txBody>
          <a:bodyPr wrap="square">
            <a:spAutoFit/>
          </a:bodyPr>
          <a:lstStyle/>
          <a:p>
            <a:pPr algn="ctr">
              <a:defRPr sz="1400" b="0">
                <a:solidFill>
                  <a:srgbClr val="888888"/>
                </a:solidFill>
                <a:latin typeface="Calibri"/>
              </a:defRPr>
            </a:pPr>
            <a:r>
              <a:t>Where Forensic Heuristics = weighted average of ELA + DCT + Face Forensics scores</a:t>
            </a:r>
          </a:p>
        </p:txBody>
      </p:sp>
      <p:sp>
        <p:nvSpPr>
          <p:cNvPr id="10" name="Rounded Rectangle 9"/>
          <p:cNvSpPr/>
          <p:nvPr/>
        </p:nvSpPr>
        <p:spPr>
          <a:xfrm>
            <a:off x="914400" y="3017520"/>
            <a:ext cx="10332720" cy="685800"/>
          </a:xfrm>
          <a:prstGeom prst="roundRect">
            <a:avLst/>
          </a:prstGeom>
          <a:solidFill>
            <a:srgbClr val="F8F9FA"/>
          </a:solidFill>
          <a:ln w="12700">
            <a:solidFill>
              <a:srgbClr val="D9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97280" y="3182112"/>
            <a:ext cx="320040" cy="320040"/>
          </a:xfrm>
          <a:prstGeom prst="ellipse">
            <a:avLst/>
          </a:prstGeom>
          <a:solidFill>
            <a:srgbClr val="D9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0" y="3154680"/>
            <a:ext cx="1828800" cy="411480"/>
          </a:xfrm>
          <a:prstGeom prst="rect">
            <a:avLst/>
          </a:prstGeom>
          <a:noFill/>
        </p:spPr>
        <p:txBody>
          <a:bodyPr wrap="square">
            <a:spAutoFit/>
          </a:bodyPr>
          <a:lstStyle/>
          <a:p>
            <a:pPr algn="l">
              <a:defRPr sz="1400" b="1">
                <a:solidFill>
                  <a:srgbClr val="D93B3B"/>
                </a:solidFill>
                <a:latin typeface="Consolas"/>
              </a:defRPr>
            </a:pPr>
            <a:r>
              <a:t>Score &gt;= 50</a:t>
            </a:r>
          </a:p>
        </p:txBody>
      </p:sp>
      <p:sp>
        <p:nvSpPr>
          <p:cNvPr id="13" name="TextBox 12"/>
          <p:cNvSpPr txBox="1"/>
          <p:nvPr/>
        </p:nvSpPr>
        <p:spPr>
          <a:xfrm>
            <a:off x="3474720" y="3154680"/>
            <a:ext cx="1828800" cy="411480"/>
          </a:xfrm>
          <a:prstGeom prst="rect">
            <a:avLst/>
          </a:prstGeom>
          <a:noFill/>
        </p:spPr>
        <p:txBody>
          <a:bodyPr wrap="square">
            <a:spAutoFit/>
          </a:bodyPr>
          <a:lstStyle/>
          <a:p>
            <a:pPr algn="l">
              <a:defRPr sz="1600" b="1">
                <a:solidFill>
                  <a:srgbClr val="D93B3B"/>
                </a:solidFill>
                <a:latin typeface="Calibri"/>
              </a:defRPr>
            </a:pPr>
            <a:r>
              <a:t>FAKE</a:t>
            </a:r>
          </a:p>
        </p:txBody>
      </p:sp>
      <p:sp>
        <p:nvSpPr>
          <p:cNvPr id="14" name="TextBox 13"/>
          <p:cNvSpPr txBox="1"/>
          <p:nvPr/>
        </p:nvSpPr>
        <p:spPr>
          <a:xfrm>
            <a:off x="5303520" y="3154680"/>
            <a:ext cx="5486400" cy="411480"/>
          </a:xfrm>
          <a:prstGeom prst="rect">
            <a:avLst/>
          </a:prstGeom>
          <a:noFill/>
        </p:spPr>
        <p:txBody>
          <a:bodyPr wrap="square">
            <a:spAutoFit/>
          </a:bodyPr>
          <a:lstStyle/>
          <a:p>
            <a:pPr algn="l">
              <a:defRPr sz="1400" b="0">
                <a:solidFill>
                  <a:srgbClr val="555555"/>
                </a:solidFill>
                <a:latin typeface="Calibri"/>
              </a:defRPr>
            </a:pPr>
            <a:r>
              <a:t>Image classified as manipulated or AI-generated</a:t>
            </a:r>
          </a:p>
        </p:txBody>
      </p:sp>
      <p:sp>
        <p:nvSpPr>
          <p:cNvPr id="15" name="Rounded Rectangle 14"/>
          <p:cNvSpPr/>
          <p:nvPr/>
        </p:nvSpPr>
        <p:spPr>
          <a:xfrm>
            <a:off x="914400" y="3840480"/>
            <a:ext cx="10332720" cy="685800"/>
          </a:xfrm>
          <a:prstGeom prst="roundRect">
            <a:avLst/>
          </a:prstGeom>
          <a:solidFill>
            <a:srgbClr val="F8F9F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7280" y="4005072"/>
            <a:ext cx="320040" cy="32004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54480" y="3977640"/>
            <a:ext cx="1828800" cy="411480"/>
          </a:xfrm>
          <a:prstGeom prst="rect">
            <a:avLst/>
          </a:prstGeom>
          <a:noFill/>
        </p:spPr>
        <p:txBody>
          <a:bodyPr wrap="square">
            <a:spAutoFit/>
          </a:bodyPr>
          <a:lstStyle/>
          <a:p>
            <a:pPr algn="l">
              <a:defRPr sz="1400" b="1">
                <a:solidFill>
                  <a:srgbClr val="E67E22"/>
                </a:solidFill>
                <a:latin typeface="Consolas"/>
              </a:defRPr>
            </a:pPr>
            <a:r>
              <a:t>Score 35-50</a:t>
            </a:r>
          </a:p>
        </p:txBody>
      </p:sp>
      <p:sp>
        <p:nvSpPr>
          <p:cNvPr id="18" name="TextBox 17"/>
          <p:cNvSpPr txBox="1"/>
          <p:nvPr/>
        </p:nvSpPr>
        <p:spPr>
          <a:xfrm>
            <a:off x="3474720" y="3977640"/>
            <a:ext cx="1828800" cy="411480"/>
          </a:xfrm>
          <a:prstGeom prst="rect">
            <a:avLst/>
          </a:prstGeom>
          <a:noFill/>
        </p:spPr>
        <p:txBody>
          <a:bodyPr wrap="square">
            <a:spAutoFit/>
          </a:bodyPr>
          <a:lstStyle/>
          <a:p>
            <a:pPr algn="l">
              <a:defRPr sz="1600" b="1">
                <a:solidFill>
                  <a:srgbClr val="E67E22"/>
                </a:solidFill>
                <a:latin typeface="Calibri"/>
              </a:defRPr>
            </a:pPr>
            <a:r>
              <a:t>SUSPICIOUS</a:t>
            </a:r>
          </a:p>
        </p:txBody>
      </p:sp>
      <p:sp>
        <p:nvSpPr>
          <p:cNvPr id="19" name="TextBox 18"/>
          <p:cNvSpPr txBox="1"/>
          <p:nvPr/>
        </p:nvSpPr>
        <p:spPr>
          <a:xfrm>
            <a:off x="5303520" y="3977640"/>
            <a:ext cx="5486400" cy="411480"/>
          </a:xfrm>
          <a:prstGeom prst="rect">
            <a:avLst/>
          </a:prstGeom>
          <a:noFill/>
        </p:spPr>
        <p:txBody>
          <a:bodyPr wrap="square">
            <a:spAutoFit/>
          </a:bodyPr>
          <a:lstStyle/>
          <a:p>
            <a:pPr algn="l">
              <a:defRPr sz="1400" b="0">
                <a:solidFill>
                  <a:srgbClr val="555555"/>
                </a:solidFill>
                <a:latin typeface="Calibri"/>
              </a:defRPr>
            </a:pPr>
            <a:r>
              <a:t>Evidence is inconclusive, needs manual review</a:t>
            </a:r>
          </a:p>
        </p:txBody>
      </p:sp>
      <p:sp>
        <p:nvSpPr>
          <p:cNvPr id="20" name="Rounded Rectangle 19"/>
          <p:cNvSpPr/>
          <p:nvPr/>
        </p:nvSpPr>
        <p:spPr>
          <a:xfrm>
            <a:off x="914400" y="4663440"/>
            <a:ext cx="10332720" cy="685800"/>
          </a:xfrm>
          <a:prstGeom prst="roundRect">
            <a:avLst/>
          </a:prstGeom>
          <a:solidFill>
            <a:srgbClr val="F8F9FA"/>
          </a:solidFill>
          <a:ln w="127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97280" y="4828032"/>
            <a:ext cx="320040" cy="320040"/>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54480" y="4800600"/>
            <a:ext cx="1828800" cy="411480"/>
          </a:xfrm>
          <a:prstGeom prst="rect">
            <a:avLst/>
          </a:prstGeom>
          <a:noFill/>
        </p:spPr>
        <p:txBody>
          <a:bodyPr wrap="square">
            <a:spAutoFit/>
          </a:bodyPr>
          <a:lstStyle/>
          <a:p>
            <a:pPr algn="l">
              <a:defRPr sz="1400" b="1">
                <a:solidFill>
                  <a:srgbClr val="1A73E8"/>
                </a:solidFill>
                <a:latin typeface="Consolas"/>
              </a:defRPr>
            </a:pPr>
            <a:r>
              <a:t>Score 20-35</a:t>
            </a:r>
          </a:p>
        </p:txBody>
      </p:sp>
      <p:sp>
        <p:nvSpPr>
          <p:cNvPr id="23" name="TextBox 22"/>
          <p:cNvSpPr txBox="1"/>
          <p:nvPr/>
        </p:nvSpPr>
        <p:spPr>
          <a:xfrm>
            <a:off x="3474720" y="4800600"/>
            <a:ext cx="1828800" cy="411480"/>
          </a:xfrm>
          <a:prstGeom prst="rect">
            <a:avLst/>
          </a:prstGeom>
          <a:noFill/>
        </p:spPr>
        <p:txBody>
          <a:bodyPr wrap="square">
            <a:spAutoFit/>
          </a:bodyPr>
          <a:lstStyle/>
          <a:p>
            <a:pPr algn="l">
              <a:defRPr sz="1600" b="1">
                <a:solidFill>
                  <a:srgbClr val="1A73E8"/>
                </a:solidFill>
                <a:latin typeface="Calibri"/>
              </a:defRPr>
            </a:pPr>
            <a:r>
              <a:t>LIKELY REAL</a:t>
            </a:r>
          </a:p>
        </p:txBody>
      </p:sp>
      <p:sp>
        <p:nvSpPr>
          <p:cNvPr id="24" name="TextBox 23"/>
          <p:cNvSpPr txBox="1"/>
          <p:nvPr/>
        </p:nvSpPr>
        <p:spPr>
          <a:xfrm>
            <a:off x="5303520" y="4800600"/>
            <a:ext cx="5486400" cy="411480"/>
          </a:xfrm>
          <a:prstGeom prst="rect">
            <a:avLst/>
          </a:prstGeom>
          <a:noFill/>
        </p:spPr>
        <p:txBody>
          <a:bodyPr wrap="square">
            <a:spAutoFit/>
          </a:bodyPr>
          <a:lstStyle/>
          <a:p>
            <a:pPr algn="l">
              <a:defRPr sz="1400" b="0">
                <a:solidFill>
                  <a:srgbClr val="555555"/>
                </a:solidFill>
                <a:latin typeface="Calibri"/>
              </a:defRPr>
            </a:pPr>
            <a:r>
              <a:t>Minor anomalies found, probably authentic</a:t>
            </a:r>
          </a:p>
        </p:txBody>
      </p:sp>
      <p:sp>
        <p:nvSpPr>
          <p:cNvPr id="25" name="Rounded Rectangle 24"/>
          <p:cNvSpPr/>
          <p:nvPr/>
        </p:nvSpPr>
        <p:spPr>
          <a:xfrm>
            <a:off x="914400" y="5486400"/>
            <a:ext cx="10332720" cy="68580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7280" y="5650992"/>
            <a:ext cx="320040" cy="320040"/>
          </a:xfrm>
          <a:prstGeom prst="ellipse">
            <a:avLst/>
          </a:prstGeom>
          <a:solidFill>
            <a:srgbClr val="0D8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54480" y="5623560"/>
            <a:ext cx="1828800" cy="411480"/>
          </a:xfrm>
          <a:prstGeom prst="rect">
            <a:avLst/>
          </a:prstGeom>
          <a:noFill/>
        </p:spPr>
        <p:txBody>
          <a:bodyPr wrap="square">
            <a:spAutoFit/>
          </a:bodyPr>
          <a:lstStyle/>
          <a:p>
            <a:pPr algn="l">
              <a:defRPr sz="1400" b="1">
                <a:solidFill>
                  <a:srgbClr val="0D8A4E"/>
                </a:solidFill>
                <a:latin typeface="Consolas"/>
              </a:defRPr>
            </a:pPr>
            <a:r>
              <a:t>Score &lt; 20</a:t>
            </a:r>
          </a:p>
        </p:txBody>
      </p:sp>
      <p:sp>
        <p:nvSpPr>
          <p:cNvPr id="28" name="TextBox 27"/>
          <p:cNvSpPr txBox="1"/>
          <p:nvPr/>
        </p:nvSpPr>
        <p:spPr>
          <a:xfrm>
            <a:off x="3474720" y="5623560"/>
            <a:ext cx="1828800" cy="411480"/>
          </a:xfrm>
          <a:prstGeom prst="rect">
            <a:avLst/>
          </a:prstGeom>
          <a:noFill/>
        </p:spPr>
        <p:txBody>
          <a:bodyPr wrap="square">
            <a:spAutoFit/>
          </a:bodyPr>
          <a:lstStyle/>
          <a:p>
            <a:pPr algn="l">
              <a:defRPr sz="1600" b="1">
                <a:solidFill>
                  <a:srgbClr val="0D8A4E"/>
                </a:solidFill>
                <a:latin typeface="Calibri"/>
              </a:defRPr>
            </a:pPr>
            <a:r>
              <a:t>REAL</a:t>
            </a:r>
          </a:p>
        </p:txBody>
      </p:sp>
      <p:sp>
        <p:nvSpPr>
          <p:cNvPr id="29" name="TextBox 28"/>
          <p:cNvSpPr txBox="1"/>
          <p:nvPr/>
        </p:nvSpPr>
        <p:spPr>
          <a:xfrm>
            <a:off x="5303520" y="5623560"/>
            <a:ext cx="5486400" cy="411480"/>
          </a:xfrm>
          <a:prstGeom prst="rect">
            <a:avLst/>
          </a:prstGeom>
          <a:noFill/>
        </p:spPr>
        <p:txBody>
          <a:bodyPr wrap="square">
            <a:spAutoFit/>
          </a:bodyPr>
          <a:lstStyle/>
          <a:p>
            <a:pPr algn="l">
              <a:defRPr sz="1400" b="0">
                <a:solidFill>
                  <a:srgbClr val="555555"/>
                </a:solidFill>
                <a:latin typeface="Calibri"/>
              </a:defRPr>
            </a:pPr>
            <a:r>
              <a:t>All 4 layers confirm authentic photograph</a:t>
            </a:r>
          </a:p>
        </p:txBody>
      </p:sp>
      <p:sp>
        <p:nvSpPr>
          <p:cNvPr id="30" name="TextBox 29"/>
          <p:cNvSpPr txBox="1"/>
          <p:nvPr/>
        </p:nvSpPr>
        <p:spPr>
          <a:xfrm>
            <a:off x="914400" y="6400800"/>
            <a:ext cx="10058400" cy="320040"/>
          </a:xfrm>
          <a:prstGeom prst="rect">
            <a:avLst/>
          </a:prstGeom>
          <a:noFill/>
        </p:spPr>
        <p:txBody>
          <a:bodyPr wrap="square">
            <a:spAutoFit/>
          </a:bodyPr>
          <a:lstStyle/>
          <a:p>
            <a:pPr algn="ctr">
              <a:defRPr sz="1200" b="0">
                <a:solidFill>
                  <a:srgbClr val="888888"/>
                </a:solidFill>
                <a:latin typeface="Calibri"/>
              </a:defRPr>
            </a:pPr>
            <a:r>
              <a:t>Why 80/20? The trained CNN leads, but physics-based heuristics (ELA, DCT) provide a safety net for unseen deepfake types.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Live Demo &amp; How to Run</a:t>
            </a:r>
          </a:p>
        </p:txBody>
      </p:sp>
      <p:sp>
        <p:nvSpPr>
          <p:cNvPr id="6" name="Rectangle 5"/>
          <p:cNvSpPr/>
          <p:nvPr/>
        </p:nvSpPr>
        <p:spPr>
          <a:xfrm>
            <a:off x="1645920" y="777240"/>
            <a:ext cx="27432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5486400" cy="5303520"/>
          </a:xfrm>
          <a:prstGeom prst="roundRect">
            <a:avLst/>
          </a:prstGeom>
          <a:solidFill>
            <a:srgbClr val="F8F9FA"/>
          </a:solidFill>
          <a:ln w="127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29200" cy="365760"/>
          </a:xfrm>
          <a:prstGeom prst="rect">
            <a:avLst/>
          </a:prstGeom>
          <a:noFill/>
        </p:spPr>
        <p:txBody>
          <a:bodyPr wrap="square">
            <a:spAutoFit/>
          </a:bodyPr>
          <a:lstStyle/>
          <a:p>
            <a:pPr algn="l">
              <a:defRPr sz="1800" b="1">
                <a:solidFill>
                  <a:srgbClr val="8B0000"/>
                </a:solidFill>
                <a:latin typeface="Calibri"/>
              </a:defRPr>
            </a:pPr>
            <a:r>
              <a:t>Steps to Run the Project</a:t>
            </a:r>
          </a:p>
        </p:txBody>
      </p:sp>
      <p:sp>
        <p:nvSpPr>
          <p:cNvPr id="9" name="TextBox 8"/>
          <p:cNvSpPr txBox="1"/>
          <p:nvPr/>
        </p:nvSpPr>
        <p:spPr>
          <a:xfrm>
            <a:off x="640080" y="1645920"/>
            <a:ext cx="5029200" cy="4572000"/>
          </a:xfrm>
          <a:prstGeom prst="rect">
            <a:avLst/>
          </a:prstGeom>
          <a:noFill/>
        </p:spPr>
        <p:txBody>
          <a:bodyPr wrap="square">
            <a:spAutoFit/>
          </a:bodyPr>
          <a:lstStyle/>
          <a:p>
            <a:pPr>
              <a:spcAft>
                <a:spcPts val="400"/>
              </a:spcAft>
              <a:defRPr sz="1300">
                <a:solidFill>
                  <a:srgbClr val="555555"/>
                </a:solidFill>
                <a:latin typeface="Calibri"/>
              </a:defRPr>
            </a:pPr>
            <a:r>
              <a:t>Step 1: Install Python dependencies</a:t>
            </a:r>
          </a:p>
          <a:p>
            <a:pPr>
              <a:spcAft>
                <a:spcPts val="400"/>
              </a:spcAft>
              <a:defRPr sz="1300">
                <a:solidFill>
                  <a:srgbClr val="555555"/>
                </a:solidFill>
                <a:latin typeface="Calibri"/>
              </a:defRPr>
            </a:pPr>
            <a:r>
              <a:t>  pip install -r backend/requirements.txt</a:t>
            </a:r>
          </a:p>
          <a:p>
            <a:pPr>
              <a:spcAft>
                <a:spcPts val="400"/>
              </a:spcAft>
              <a:defRPr sz="1300">
                <a:solidFill>
                  <a:srgbClr val="555555"/>
                </a:solidFill>
                <a:latin typeface="Calibri"/>
              </a:defRPr>
            </a:pPr>
          </a:p>
          <a:p>
            <a:pPr>
              <a:spcAft>
                <a:spcPts val="400"/>
              </a:spcAft>
              <a:defRPr sz="1300">
                <a:solidFill>
                  <a:srgbClr val="555555"/>
                </a:solidFill>
                <a:latin typeface="Calibri"/>
              </a:defRPr>
            </a:pPr>
            <a:r>
              <a:t>Step 2: (One-time) Train the model</a:t>
            </a:r>
          </a:p>
          <a:p>
            <a:pPr>
              <a:spcAft>
                <a:spcPts val="400"/>
              </a:spcAft>
              <a:defRPr sz="1300">
                <a:solidFill>
                  <a:srgbClr val="555555"/>
                </a:solidFill>
                <a:latin typeface="Calibri"/>
              </a:defRPr>
            </a:pPr>
            <a:r>
              <a:t>  python train_model.py --max-samples 5000</a:t>
            </a:r>
          </a:p>
          <a:p>
            <a:pPr>
              <a:spcAft>
                <a:spcPts val="400"/>
              </a:spcAft>
              <a:defRPr sz="1300">
                <a:solidFill>
                  <a:srgbClr val="555555"/>
                </a:solidFill>
                <a:latin typeface="Calibri"/>
              </a:defRPr>
            </a:pPr>
            <a:r>
              <a:t>  (Creates efficientnet_deepfake.pth)</a:t>
            </a:r>
          </a:p>
          <a:p>
            <a:pPr>
              <a:spcAft>
                <a:spcPts val="400"/>
              </a:spcAft>
              <a:defRPr sz="1300">
                <a:solidFill>
                  <a:srgbClr val="555555"/>
                </a:solidFill>
                <a:latin typeface="Calibri"/>
              </a:defRPr>
            </a:pPr>
          </a:p>
          <a:p>
            <a:pPr>
              <a:spcAft>
                <a:spcPts val="400"/>
              </a:spcAft>
              <a:defRPr sz="1300">
                <a:solidFill>
                  <a:srgbClr val="555555"/>
                </a:solidFill>
                <a:latin typeface="Calibri"/>
              </a:defRPr>
            </a:pPr>
            <a:r>
              <a:t>Step 3: Start the API server</a:t>
            </a:r>
          </a:p>
          <a:p>
            <a:pPr>
              <a:spcAft>
                <a:spcPts val="400"/>
              </a:spcAft>
              <a:defRPr sz="1300">
                <a:solidFill>
                  <a:srgbClr val="555555"/>
                </a:solidFill>
                <a:latin typeface="Calibri"/>
              </a:defRPr>
            </a:pPr>
            <a:r>
              <a:t>  uvicorn backend.main:app --reload</a:t>
            </a:r>
          </a:p>
          <a:p>
            <a:pPr>
              <a:spcAft>
                <a:spcPts val="400"/>
              </a:spcAft>
              <a:defRPr sz="1300">
                <a:solidFill>
                  <a:srgbClr val="555555"/>
                </a:solidFill>
                <a:latin typeface="Calibri"/>
              </a:defRPr>
            </a:pPr>
          </a:p>
          <a:p>
            <a:pPr>
              <a:spcAft>
                <a:spcPts val="400"/>
              </a:spcAft>
              <a:defRPr sz="1300">
                <a:solidFill>
                  <a:srgbClr val="555555"/>
                </a:solidFill>
                <a:latin typeface="Calibri"/>
              </a:defRPr>
            </a:pPr>
            <a:r>
              <a:t>Step 4: Open browser</a:t>
            </a:r>
          </a:p>
          <a:p>
            <a:pPr>
              <a:spcAft>
                <a:spcPts val="400"/>
              </a:spcAft>
              <a:defRPr sz="1300">
                <a:solidFill>
                  <a:srgbClr val="555555"/>
                </a:solidFill>
                <a:latin typeface="Calibri"/>
              </a:defRPr>
            </a:pPr>
            <a:r>
              <a:t>  http://localhost:8000</a:t>
            </a:r>
          </a:p>
          <a:p>
            <a:pPr>
              <a:spcAft>
                <a:spcPts val="400"/>
              </a:spcAft>
              <a:defRPr sz="1300">
                <a:solidFill>
                  <a:srgbClr val="555555"/>
                </a:solidFill>
                <a:latin typeface="Calibri"/>
              </a:defRPr>
            </a:pPr>
          </a:p>
          <a:p>
            <a:pPr>
              <a:spcAft>
                <a:spcPts val="400"/>
              </a:spcAft>
              <a:defRPr sz="1300">
                <a:solidFill>
                  <a:srgbClr val="555555"/>
                </a:solidFill>
                <a:latin typeface="Calibri"/>
              </a:defRPr>
            </a:pPr>
            <a:r>
              <a:t>Step 5: Upload any image</a:t>
            </a:r>
          </a:p>
          <a:p>
            <a:pPr>
              <a:spcAft>
                <a:spcPts val="400"/>
              </a:spcAft>
              <a:defRPr sz="1300">
                <a:solidFill>
                  <a:srgbClr val="555555"/>
                </a:solidFill>
                <a:latin typeface="Calibri"/>
              </a:defRPr>
            </a:pPr>
            <a:r>
              <a:t>  --&gt; Real photo --&gt; Should say REAL</a:t>
            </a:r>
          </a:p>
          <a:p>
            <a:pPr>
              <a:spcAft>
                <a:spcPts val="400"/>
              </a:spcAft>
              <a:defRPr sz="1300">
                <a:solidFill>
                  <a:srgbClr val="555555"/>
                </a:solidFill>
                <a:latin typeface="Calibri"/>
              </a:defRPr>
            </a:pPr>
            <a:r>
              <a:t>  --&gt; AI image   --&gt; Should say FAKE</a:t>
            </a:r>
          </a:p>
          <a:p>
            <a:pPr>
              <a:spcAft>
                <a:spcPts val="400"/>
              </a:spcAft>
              <a:defRPr sz="1300">
                <a:solidFill>
                  <a:srgbClr val="555555"/>
                </a:solidFill>
                <a:latin typeface="Calibri"/>
              </a:defRPr>
            </a:pPr>
          </a:p>
          <a:p>
            <a:pPr>
              <a:spcAft>
                <a:spcPts val="400"/>
              </a:spcAft>
              <a:defRPr sz="1300">
                <a:solidFill>
                  <a:srgbClr val="555555"/>
                </a:solidFill>
                <a:latin typeface="Calibri"/>
              </a:defRPr>
            </a:pPr>
            <a:r>
              <a:t>All analysis completes in &lt; 5 seconds on CPU</a:t>
            </a:r>
          </a:p>
        </p:txBody>
      </p:sp>
      <p:sp>
        <p:nvSpPr>
          <p:cNvPr id="10" name="Rounded Rectangle 9"/>
          <p:cNvSpPr/>
          <p:nvPr/>
        </p:nvSpPr>
        <p:spPr>
          <a:xfrm>
            <a:off x="6217920" y="1097280"/>
            <a:ext cx="5303520" cy="530352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20"/>
            <a:ext cx="4846320" cy="365760"/>
          </a:xfrm>
          <a:prstGeom prst="rect">
            <a:avLst/>
          </a:prstGeom>
          <a:noFill/>
        </p:spPr>
        <p:txBody>
          <a:bodyPr wrap="square">
            <a:spAutoFit/>
          </a:bodyPr>
          <a:lstStyle/>
          <a:p>
            <a:pPr algn="l">
              <a:defRPr sz="1800" b="1">
                <a:solidFill>
                  <a:srgbClr val="0D8A4E"/>
                </a:solidFill>
                <a:latin typeface="Calibri"/>
              </a:defRPr>
            </a:pPr>
            <a:r>
              <a:t>What the User Sees</a:t>
            </a:r>
          </a:p>
        </p:txBody>
      </p:sp>
      <p:sp>
        <p:nvSpPr>
          <p:cNvPr id="12" name="TextBox 11"/>
          <p:cNvSpPr txBox="1"/>
          <p:nvPr/>
        </p:nvSpPr>
        <p:spPr>
          <a:xfrm>
            <a:off x="6400800" y="1645920"/>
            <a:ext cx="4846320" cy="4572000"/>
          </a:xfrm>
          <a:prstGeom prst="rect">
            <a:avLst/>
          </a:prstGeom>
          <a:noFill/>
        </p:spPr>
        <p:txBody>
          <a:bodyPr wrap="square">
            <a:spAutoFit/>
          </a:bodyPr>
          <a:lstStyle/>
          <a:p>
            <a:pPr>
              <a:spcAft>
                <a:spcPts val="400"/>
              </a:spcAft>
              <a:defRPr sz="1300">
                <a:solidFill>
                  <a:srgbClr val="555555"/>
                </a:solidFill>
                <a:latin typeface="Calibri"/>
              </a:defRPr>
            </a:pPr>
            <a:r>
              <a:t>1.  Premium dark-themed web interface</a:t>
            </a:r>
          </a:p>
          <a:p>
            <a:pPr>
              <a:spcAft>
                <a:spcPts val="400"/>
              </a:spcAft>
              <a:defRPr sz="1300">
                <a:solidFill>
                  <a:srgbClr val="555555"/>
                </a:solidFill>
                <a:latin typeface="Calibri"/>
              </a:defRPr>
            </a:pPr>
            <a:r>
              <a:t>2.  Drag &amp; drop image upload</a:t>
            </a:r>
          </a:p>
          <a:p>
            <a:pPr>
              <a:spcAft>
                <a:spcPts val="400"/>
              </a:spcAft>
              <a:defRPr sz="1300">
                <a:solidFill>
                  <a:srgbClr val="555555"/>
                </a:solidFill>
                <a:latin typeface="Calibri"/>
              </a:defRPr>
            </a:pPr>
            <a:r>
              <a:t>3.  Real-time loading animation</a:t>
            </a:r>
          </a:p>
          <a:p>
            <a:pPr>
              <a:spcAft>
                <a:spcPts val="400"/>
              </a:spcAft>
              <a:defRPr sz="1300">
                <a:solidFill>
                  <a:srgbClr val="555555"/>
                </a:solidFill>
                <a:latin typeface="Calibri"/>
              </a:defRPr>
            </a:pPr>
            <a:r>
              <a:t>    (shows each analysis step)</a:t>
            </a:r>
          </a:p>
          <a:p>
            <a:pPr>
              <a:spcAft>
                <a:spcPts val="400"/>
              </a:spcAft>
              <a:defRPr sz="1300">
                <a:solidFill>
                  <a:srgbClr val="555555"/>
                </a:solidFill>
                <a:latin typeface="Calibri"/>
              </a:defRPr>
            </a:pPr>
            <a:r>
              <a:t>4.  Overall Verdict with confidence ring</a:t>
            </a:r>
          </a:p>
          <a:p>
            <a:pPr>
              <a:spcAft>
                <a:spcPts val="400"/>
              </a:spcAft>
              <a:defRPr sz="1300">
                <a:solidFill>
                  <a:srgbClr val="555555"/>
                </a:solidFill>
                <a:latin typeface="Calibri"/>
              </a:defRPr>
            </a:pPr>
            <a:r>
              <a:t>    REAL / SUSPICIOUS / FAKE</a:t>
            </a:r>
          </a:p>
          <a:p>
            <a:pPr>
              <a:spcAft>
                <a:spcPts val="400"/>
              </a:spcAft>
              <a:defRPr sz="1300">
                <a:solidFill>
                  <a:srgbClr val="555555"/>
                </a:solidFill>
                <a:latin typeface="Calibri"/>
              </a:defRPr>
            </a:pPr>
            <a:r>
              <a:t>5.  AI Explanation panel (NEW):</a:t>
            </a:r>
          </a:p>
          <a:p>
            <a:pPr>
              <a:spcAft>
                <a:spcPts val="400"/>
              </a:spcAft>
              <a:defRPr sz="1300">
                <a:solidFill>
                  <a:srgbClr val="555555"/>
                </a:solidFill>
                <a:latin typeface="Calibri"/>
              </a:defRPr>
            </a:pPr>
            <a:r>
              <a:t>    - Per-layer score breakdown</a:t>
            </a:r>
          </a:p>
          <a:p>
            <a:pPr>
              <a:spcAft>
                <a:spcPts val="400"/>
              </a:spcAft>
              <a:defRPr sz="1300">
                <a:solidFill>
                  <a:srgbClr val="555555"/>
                </a:solidFill>
                <a:latin typeface="Calibri"/>
              </a:defRPr>
            </a:pPr>
            <a:r>
              <a:t>    - FLAGGED / PASS badges per layer</a:t>
            </a:r>
          </a:p>
          <a:p>
            <a:pPr>
              <a:spcAft>
                <a:spcPts val="400"/>
              </a:spcAft>
              <a:defRPr sz="1300">
                <a:solidFill>
                  <a:srgbClr val="555555"/>
                </a:solidFill>
                <a:latin typeface="Calibri"/>
              </a:defRPr>
            </a:pPr>
            <a:r>
              <a:t>    - Human-readable explanations</a:t>
            </a:r>
          </a:p>
          <a:p>
            <a:pPr>
              <a:spcAft>
                <a:spcPts val="400"/>
              </a:spcAft>
              <a:defRPr sz="1300">
                <a:solidFill>
                  <a:srgbClr val="555555"/>
                </a:solidFill>
                <a:latin typeface="Calibri"/>
              </a:defRPr>
            </a:pPr>
            <a:r>
              <a:t>    - Score fusion formula shown</a:t>
            </a:r>
          </a:p>
          <a:p>
            <a:pPr>
              <a:spcAft>
                <a:spcPts val="400"/>
              </a:spcAft>
              <a:defRPr sz="1300">
                <a:solidFill>
                  <a:srgbClr val="555555"/>
                </a:solidFill>
                <a:latin typeface="Calibri"/>
              </a:defRPr>
            </a:pPr>
            <a:r>
              <a:t>6.  4 Analysis tabs:</a:t>
            </a:r>
          </a:p>
          <a:p>
            <a:pPr>
              <a:spcAft>
                <a:spcPts val="400"/>
              </a:spcAft>
              <a:defRPr sz="1300">
                <a:solidFill>
                  <a:srgbClr val="555555"/>
                </a:solidFill>
                <a:latin typeface="Calibri"/>
              </a:defRPr>
            </a:pPr>
            <a:r>
              <a:t>    - Grad-CAM heatmap overlay</a:t>
            </a:r>
          </a:p>
          <a:p>
            <a:pPr>
              <a:spcAft>
                <a:spcPts val="400"/>
              </a:spcAft>
              <a:defRPr sz="1300">
                <a:solidFill>
                  <a:srgbClr val="555555"/>
                </a:solidFill>
                <a:latin typeface="Calibri"/>
              </a:defRPr>
            </a:pPr>
            <a:r>
              <a:t>    - ELA heatmap + overlay</a:t>
            </a:r>
          </a:p>
          <a:p>
            <a:pPr>
              <a:spcAft>
                <a:spcPts val="400"/>
              </a:spcAft>
              <a:defRPr sz="1300">
                <a:solidFill>
                  <a:srgbClr val="555555"/>
                </a:solidFill>
                <a:latin typeface="Calibri"/>
              </a:defRPr>
            </a:pPr>
            <a:r>
              <a:t>    - DCT spectral map</a:t>
            </a:r>
          </a:p>
          <a:p>
            <a:pPr>
              <a:spcAft>
                <a:spcPts val="400"/>
              </a:spcAft>
              <a:defRPr sz="1300">
                <a:solidFill>
                  <a:srgbClr val="555555"/>
                </a:solidFill>
                <a:latin typeface="Calibri"/>
              </a:defRPr>
            </a:pPr>
            <a:r>
              <a:t>    - Face Forensics biometric checks</a:t>
            </a:r>
          </a:p>
          <a:p>
            <a:pPr>
              <a:spcAft>
                <a:spcPts val="400"/>
              </a:spcAft>
              <a:defRPr sz="1300">
                <a:solidFill>
                  <a:srgbClr val="555555"/>
                </a:solidFill>
                <a:latin typeface="Calibri"/>
              </a:defRPr>
            </a:pPr>
            <a:r>
              <a:t>7.  All visuals downloadable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182880"/>
            <a:ext cx="7315200" cy="548640"/>
          </a:xfrm>
          <a:prstGeom prst="rect">
            <a:avLst/>
          </a:prstGeom>
          <a:noFill/>
        </p:spPr>
        <p:txBody>
          <a:bodyPr wrap="square">
            <a:spAutoFit/>
          </a:bodyPr>
          <a:lstStyle/>
          <a:p>
            <a:pPr algn="l">
              <a:defRPr sz="2800" b="1">
                <a:solidFill>
                  <a:srgbClr val="8B0000"/>
                </a:solidFill>
                <a:latin typeface="Calibri"/>
              </a:defRPr>
            </a:pPr>
            <a:r>
              <a:t>Limitations &amp; Future Scope</a:t>
            </a:r>
          </a:p>
        </p:txBody>
      </p:sp>
      <p:sp>
        <p:nvSpPr>
          <p:cNvPr id="6" name="Rectangle 5"/>
          <p:cNvSpPr/>
          <p:nvPr/>
        </p:nvSpPr>
        <p:spPr>
          <a:xfrm>
            <a:off x="1645920" y="777240"/>
            <a:ext cx="320040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097280"/>
            <a:ext cx="5486400" cy="5303520"/>
          </a:xfrm>
          <a:prstGeom prst="roundRect">
            <a:avLst/>
          </a:prstGeom>
          <a:solidFill>
            <a:srgbClr val="F8F9FA"/>
          </a:solidFill>
          <a:ln w="12700">
            <a:solidFill>
              <a:srgbClr val="D93B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188720"/>
            <a:ext cx="5029200" cy="365760"/>
          </a:xfrm>
          <a:prstGeom prst="rect">
            <a:avLst/>
          </a:prstGeom>
          <a:noFill/>
        </p:spPr>
        <p:txBody>
          <a:bodyPr wrap="square">
            <a:spAutoFit/>
          </a:bodyPr>
          <a:lstStyle/>
          <a:p>
            <a:pPr algn="l">
              <a:defRPr sz="1800" b="1">
                <a:solidFill>
                  <a:srgbClr val="D93B3B"/>
                </a:solidFill>
                <a:latin typeface="Calibri"/>
              </a:defRPr>
            </a:pPr>
            <a:r>
              <a:t>Current Limitations</a:t>
            </a:r>
          </a:p>
        </p:txBody>
      </p:sp>
      <p:sp>
        <p:nvSpPr>
          <p:cNvPr id="9" name="TextBox 8"/>
          <p:cNvSpPr txBox="1"/>
          <p:nvPr/>
        </p:nvSpPr>
        <p:spPr>
          <a:xfrm>
            <a:off x="640080" y="1645920"/>
            <a:ext cx="5029200" cy="4572000"/>
          </a:xfrm>
          <a:prstGeom prst="rect">
            <a:avLst/>
          </a:prstGeom>
          <a:noFill/>
        </p:spPr>
        <p:txBody>
          <a:bodyPr wrap="square">
            <a:spAutoFit/>
          </a:bodyPr>
          <a:lstStyle/>
          <a:p>
            <a:pPr>
              <a:spcAft>
                <a:spcPts val="400"/>
              </a:spcAft>
              <a:defRPr sz="1400">
                <a:solidFill>
                  <a:srgbClr val="555555"/>
                </a:solidFill>
                <a:latin typeface="Calibri"/>
              </a:defRPr>
            </a:pPr>
            <a:r>
              <a:t>1. CPU-only training is slow</a:t>
            </a:r>
          </a:p>
          <a:p>
            <a:pPr>
              <a:spcAft>
                <a:spcPts val="400"/>
              </a:spcAft>
              <a:defRPr sz="1400">
                <a:solidFill>
                  <a:srgbClr val="555555"/>
                </a:solidFill>
                <a:latin typeface="Calibri"/>
              </a:defRPr>
            </a:pPr>
            <a:r>
              <a:t>   Used 5K subset; full 140K needs GPU (10+ hours)</a:t>
            </a:r>
          </a:p>
          <a:p>
            <a:pPr>
              <a:spcAft>
                <a:spcPts val="400"/>
              </a:spcAft>
              <a:defRPr sz="1400">
                <a:solidFill>
                  <a:srgbClr val="555555"/>
                </a:solidFill>
                <a:latin typeface="Calibri"/>
              </a:defRPr>
            </a:pPr>
          </a:p>
          <a:p>
            <a:pPr>
              <a:spcAft>
                <a:spcPts val="400"/>
              </a:spcAft>
              <a:defRPr sz="1400">
                <a:solidFill>
                  <a:srgbClr val="555555"/>
                </a:solidFill>
                <a:latin typeface="Calibri"/>
              </a:defRPr>
            </a:pPr>
            <a:r>
              <a:t>2. Static images only</a:t>
            </a:r>
          </a:p>
          <a:p>
            <a:pPr>
              <a:spcAft>
                <a:spcPts val="400"/>
              </a:spcAft>
              <a:defRPr sz="1400">
                <a:solidFill>
                  <a:srgbClr val="555555"/>
                </a:solidFill>
                <a:latin typeface="Calibri"/>
              </a:defRPr>
            </a:pPr>
            <a:r>
              <a:t>   No video deepfake detection yet</a:t>
            </a:r>
          </a:p>
          <a:p>
            <a:pPr>
              <a:spcAft>
                <a:spcPts val="400"/>
              </a:spcAft>
              <a:defRPr sz="1400">
                <a:solidFill>
                  <a:srgbClr val="555555"/>
                </a:solidFill>
                <a:latin typeface="Calibri"/>
              </a:defRPr>
            </a:pPr>
          </a:p>
          <a:p>
            <a:pPr>
              <a:spcAft>
                <a:spcPts val="400"/>
              </a:spcAft>
              <a:defRPr sz="1400">
                <a:solidFill>
                  <a:srgbClr val="555555"/>
                </a:solidFill>
                <a:latin typeface="Calibri"/>
              </a:defRPr>
            </a:pPr>
            <a:r>
              <a:t>3. Dataset bias</a:t>
            </a:r>
          </a:p>
          <a:p>
            <a:pPr>
              <a:spcAft>
                <a:spcPts val="400"/>
              </a:spcAft>
              <a:defRPr sz="1400">
                <a:solidFill>
                  <a:srgbClr val="555555"/>
                </a:solidFill>
                <a:latin typeface="Calibri"/>
              </a:defRPr>
            </a:pPr>
            <a:r>
              <a:t>   New deepfake techniques not in training data</a:t>
            </a:r>
          </a:p>
          <a:p>
            <a:pPr>
              <a:spcAft>
                <a:spcPts val="400"/>
              </a:spcAft>
              <a:defRPr sz="1400">
                <a:solidFill>
                  <a:srgbClr val="555555"/>
                </a:solidFill>
                <a:latin typeface="Calibri"/>
              </a:defRPr>
            </a:pPr>
            <a:r>
              <a:t>   may be missed</a:t>
            </a:r>
          </a:p>
          <a:p>
            <a:pPr>
              <a:spcAft>
                <a:spcPts val="400"/>
              </a:spcAft>
              <a:defRPr sz="1400">
                <a:solidFill>
                  <a:srgbClr val="555555"/>
                </a:solidFill>
                <a:latin typeface="Calibri"/>
              </a:defRPr>
            </a:pPr>
          </a:p>
          <a:p>
            <a:pPr>
              <a:spcAft>
                <a:spcPts val="400"/>
              </a:spcAft>
              <a:defRPr sz="1400">
                <a:solidFill>
                  <a:srgbClr val="555555"/>
                </a:solidFill>
                <a:latin typeface="Calibri"/>
              </a:defRPr>
            </a:pPr>
            <a:r>
              <a:t>4. Adversarial attacks</a:t>
            </a:r>
          </a:p>
          <a:p>
            <a:pPr>
              <a:spcAft>
                <a:spcPts val="400"/>
              </a:spcAft>
              <a:defRPr sz="1400">
                <a:solidFill>
                  <a:srgbClr val="555555"/>
                </a:solidFill>
                <a:latin typeface="Calibri"/>
              </a:defRPr>
            </a:pPr>
            <a:r>
              <a:t>   A determined attacker could craft images</a:t>
            </a:r>
          </a:p>
          <a:p>
            <a:pPr>
              <a:spcAft>
                <a:spcPts val="400"/>
              </a:spcAft>
              <a:defRPr sz="1400">
                <a:solidFill>
                  <a:srgbClr val="555555"/>
                </a:solidFill>
                <a:latin typeface="Calibri"/>
              </a:defRPr>
            </a:pPr>
            <a:r>
              <a:t>   specifically designed to fool the model</a:t>
            </a:r>
          </a:p>
          <a:p>
            <a:pPr>
              <a:spcAft>
                <a:spcPts val="400"/>
              </a:spcAft>
              <a:defRPr sz="1400">
                <a:solidFill>
                  <a:srgbClr val="555555"/>
                </a:solidFill>
                <a:latin typeface="Calibri"/>
              </a:defRPr>
            </a:pPr>
          </a:p>
          <a:p>
            <a:pPr>
              <a:spcAft>
                <a:spcPts val="400"/>
              </a:spcAft>
              <a:defRPr sz="1400">
                <a:solidFill>
                  <a:srgbClr val="555555"/>
                </a:solidFill>
                <a:latin typeface="Calibri"/>
              </a:defRPr>
            </a:pPr>
            <a:r>
              <a:t>5. Face-dependent forensics</a:t>
            </a:r>
          </a:p>
          <a:p>
            <a:pPr>
              <a:spcAft>
                <a:spcPts val="400"/>
              </a:spcAft>
              <a:defRPr sz="1400">
                <a:solidFill>
                  <a:srgbClr val="555555"/>
                </a:solidFill>
                <a:latin typeface="Calibri"/>
              </a:defRPr>
            </a:pPr>
            <a:r>
              <a:t>   Layer 3 only works when a face is detected</a:t>
            </a:r>
          </a:p>
        </p:txBody>
      </p:sp>
      <p:sp>
        <p:nvSpPr>
          <p:cNvPr id="10" name="Rounded Rectangle 9"/>
          <p:cNvSpPr/>
          <p:nvPr/>
        </p:nvSpPr>
        <p:spPr>
          <a:xfrm>
            <a:off x="6217920" y="1097280"/>
            <a:ext cx="5303520" cy="5303520"/>
          </a:xfrm>
          <a:prstGeom prst="roundRect">
            <a:avLst/>
          </a:prstGeom>
          <a:solidFill>
            <a:srgbClr val="F8F9FA"/>
          </a:solidFill>
          <a:ln w="12700">
            <a:solidFill>
              <a:srgbClr val="0D8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188720"/>
            <a:ext cx="4846320" cy="365760"/>
          </a:xfrm>
          <a:prstGeom prst="rect">
            <a:avLst/>
          </a:prstGeom>
          <a:noFill/>
        </p:spPr>
        <p:txBody>
          <a:bodyPr wrap="square">
            <a:spAutoFit/>
          </a:bodyPr>
          <a:lstStyle/>
          <a:p>
            <a:pPr algn="l">
              <a:defRPr sz="1800" b="1">
                <a:solidFill>
                  <a:srgbClr val="0D8A4E"/>
                </a:solidFill>
                <a:latin typeface="Calibri"/>
              </a:defRPr>
            </a:pPr>
            <a:r>
              <a:t>Future Improvements</a:t>
            </a:r>
          </a:p>
        </p:txBody>
      </p:sp>
      <p:sp>
        <p:nvSpPr>
          <p:cNvPr id="12" name="TextBox 11"/>
          <p:cNvSpPr txBox="1"/>
          <p:nvPr/>
        </p:nvSpPr>
        <p:spPr>
          <a:xfrm>
            <a:off x="6400800" y="1645920"/>
            <a:ext cx="4846320" cy="4572000"/>
          </a:xfrm>
          <a:prstGeom prst="rect">
            <a:avLst/>
          </a:prstGeom>
          <a:noFill/>
        </p:spPr>
        <p:txBody>
          <a:bodyPr wrap="square">
            <a:spAutoFit/>
          </a:bodyPr>
          <a:lstStyle/>
          <a:p>
            <a:pPr>
              <a:spcAft>
                <a:spcPts val="400"/>
              </a:spcAft>
              <a:defRPr sz="1400">
                <a:solidFill>
                  <a:srgbClr val="555555"/>
                </a:solidFill>
                <a:latin typeface="Calibri"/>
              </a:defRPr>
            </a:pPr>
            <a:r>
              <a:t>1. Full dataset training (140K images)</a:t>
            </a:r>
          </a:p>
          <a:p>
            <a:pPr>
              <a:spcAft>
                <a:spcPts val="400"/>
              </a:spcAft>
              <a:defRPr sz="1400">
                <a:solidFill>
                  <a:srgbClr val="555555"/>
                </a:solidFill>
                <a:latin typeface="Calibri"/>
              </a:defRPr>
            </a:pPr>
            <a:r>
              <a:t>   Expected: 90%+ accuracy</a:t>
            </a:r>
          </a:p>
          <a:p>
            <a:pPr>
              <a:spcAft>
                <a:spcPts val="400"/>
              </a:spcAft>
              <a:defRPr sz="1400">
                <a:solidFill>
                  <a:srgbClr val="555555"/>
                </a:solidFill>
                <a:latin typeface="Calibri"/>
              </a:defRPr>
            </a:pPr>
          </a:p>
          <a:p>
            <a:pPr>
              <a:spcAft>
                <a:spcPts val="400"/>
              </a:spcAft>
              <a:defRPr sz="1400">
                <a:solidFill>
                  <a:srgbClr val="555555"/>
                </a:solidFill>
                <a:latin typeface="Calibri"/>
              </a:defRPr>
            </a:pPr>
            <a:r>
              <a:t>2. Video deepfake detection</a:t>
            </a:r>
          </a:p>
          <a:p>
            <a:pPr>
              <a:spcAft>
                <a:spcPts val="400"/>
              </a:spcAft>
              <a:defRPr sz="1400">
                <a:solidFill>
                  <a:srgbClr val="555555"/>
                </a:solidFill>
                <a:latin typeface="Calibri"/>
              </a:defRPr>
            </a:pPr>
            <a:r>
              <a:t>   Frame-by-frame temporal consistency</a:t>
            </a:r>
          </a:p>
          <a:p>
            <a:pPr>
              <a:spcAft>
                <a:spcPts val="400"/>
              </a:spcAft>
              <a:defRPr sz="1400">
                <a:solidFill>
                  <a:srgbClr val="555555"/>
                </a:solidFill>
                <a:latin typeface="Calibri"/>
              </a:defRPr>
            </a:pPr>
          </a:p>
          <a:p>
            <a:pPr>
              <a:spcAft>
                <a:spcPts val="400"/>
              </a:spcAft>
              <a:defRPr sz="1400">
                <a:solidFill>
                  <a:srgbClr val="555555"/>
                </a:solidFill>
                <a:latin typeface="Calibri"/>
              </a:defRPr>
            </a:pPr>
            <a:r>
              <a:t>3. Deeper models (EfficientNet-B3/B4)</a:t>
            </a:r>
          </a:p>
          <a:p>
            <a:pPr>
              <a:spcAft>
                <a:spcPts val="400"/>
              </a:spcAft>
              <a:defRPr sz="1400">
                <a:solidFill>
                  <a:srgbClr val="555555"/>
                </a:solidFill>
                <a:latin typeface="Calibri"/>
              </a:defRPr>
            </a:pPr>
            <a:r>
              <a:t>   Higher capacity for better accuracy</a:t>
            </a:r>
          </a:p>
          <a:p>
            <a:pPr>
              <a:spcAft>
                <a:spcPts val="400"/>
              </a:spcAft>
              <a:defRPr sz="1400">
                <a:solidFill>
                  <a:srgbClr val="555555"/>
                </a:solidFill>
                <a:latin typeface="Calibri"/>
              </a:defRPr>
            </a:pPr>
          </a:p>
          <a:p>
            <a:pPr>
              <a:spcAft>
                <a:spcPts val="400"/>
              </a:spcAft>
              <a:defRPr sz="1400">
                <a:solidFill>
                  <a:srgbClr val="555555"/>
                </a:solidFill>
                <a:latin typeface="Calibri"/>
              </a:defRPr>
            </a:pPr>
            <a:r>
              <a:t>4. Adversarial training</a:t>
            </a:r>
          </a:p>
          <a:p>
            <a:pPr>
              <a:spcAft>
                <a:spcPts val="400"/>
              </a:spcAft>
              <a:defRPr sz="1400">
                <a:solidFill>
                  <a:srgbClr val="555555"/>
                </a:solidFill>
                <a:latin typeface="Calibri"/>
              </a:defRPr>
            </a:pPr>
            <a:r>
              <a:t>   Make model robust against attacks</a:t>
            </a:r>
          </a:p>
          <a:p>
            <a:pPr>
              <a:spcAft>
                <a:spcPts val="400"/>
              </a:spcAft>
              <a:defRPr sz="1400">
                <a:solidFill>
                  <a:srgbClr val="555555"/>
                </a:solidFill>
                <a:latin typeface="Calibri"/>
              </a:defRPr>
            </a:pPr>
          </a:p>
          <a:p>
            <a:pPr>
              <a:spcAft>
                <a:spcPts val="400"/>
              </a:spcAft>
              <a:defRPr sz="1400">
                <a:solidFill>
                  <a:srgbClr val="555555"/>
                </a:solidFill>
                <a:latin typeface="Calibri"/>
              </a:defRPr>
            </a:pPr>
            <a:r>
              <a:t>5. Real-time browser extension</a:t>
            </a:r>
          </a:p>
          <a:p>
            <a:pPr>
              <a:spcAft>
                <a:spcPts val="400"/>
              </a:spcAft>
              <a:defRPr sz="1400">
                <a:solidFill>
                  <a:srgbClr val="555555"/>
                </a:solidFill>
                <a:latin typeface="Calibri"/>
              </a:defRPr>
            </a:pPr>
            <a:r>
              <a:t>   Detect deepfakes while browsing web</a:t>
            </a:r>
          </a:p>
          <a:p>
            <a:pPr>
              <a:spcAft>
                <a:spcPts val="400"/>
              </a:spcAft>
              <a:defRPr sz="1400">
                <a:solidFill>
                  <a:srgbClr val="555555"/>
                </a:solidFill>
                <a:latin typeface="Calibri"/>
              </a:defRPr>
            </a:pPr>
          </a:p>
          <a:p>
            <a:pPr>
              <a:spcAft>
                <a:spcPts val="400"/>
              </a:spcAft>
              <a:defRPr sz="1400">
                <a:solidFill>
                  <a:srgbClr val="555555"/>
                </a:solidFill>
                <a:latin typeface="Calibri"/>
              </a:defRPr>
            </a:pPr>
            <a:r>
              <a:t>6. Audio deepfake detection</a:t>
            </a:r>
          </a:p>
          <a:p>
            <a:pPr>
              <a:spcAft>
                <a:spcPts val="400"/>
              </a:spcAft>
              <a:defRPr sz="1400">
                <a:solidFill>
                  <a:srgbClr val="555555"/>
                </a:solidFill>
                <a:latin typeface="Calibri"/>
              </a:defRPr>
            </a:pPr>
            <a:r>
              <a:t>   Voice cloning detection for video calls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pu_logo_1776204326160.png"/>
          <p:cNvPicPr>
            <a:picLocks noChangeAspect="1"/>
          </p:cNvPicPr>
          <p:nvPr/>
        </p:nvPicPr>
        <p:blipFill>
          <a:blip r:embed="rId2"/>
          <a:stretch>
            <a:fillRect/>
          </a:stretch>
        </p:blipFill>
        <p:spPr>
          <a:xfrm>
            <a:off x="274320" y="137160"/>
            <a:ext cx="1097280" cy="594360"/>
          </a:xfrm>
          <a:prstGeom prst="rect">
            <a:avLst/>
          </a:prstGeom>
        </p:spPr>
      </p:pic>
      <p:sp>
        <p:nvSpPr>
          <p:cNvPr id="4" name="Rectangle 3"/>
          <p:cNvSpPr/>
          <p:nvPr/>
        </p:nvSpPr>
        <p:spPr>
          <a:xfrm>
            <a:off x="0" y="6720840"/>
            <a:ext cx="12191695" cy="13716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914400"/>
          </a:xfrm>
          <a:prstGeom prst="rect">
            <a:avLst/>
          </a:prstGeom>
          <a:noFill/>
        </p:spPr>
        <p:txBody>
          <a:bodyPr wrap="square">
            <a:spAutoFit/>
          </a:bodyPr>
          <a:lstStyle/>
          <a:p>
            <a:pPr algn="ctr">
              <a:defRPr sz="5200" b="1">
                <a:solidFill>
                  <a:srgbClr val="8B0000"/>
                </a:solidFill>
                <a:latin typeface="Calibri"/>
              </a:defRPr>
            </a:pPr>
            <a:r>
              <a:t>Thank You!</a:t>
            </a:r>
          </a:p>
        </p:txBody>
      </p:sp>
      <p:sp>
        <p:nvSpPr>
          <p:cNvPr id="6" name="Rectangle 5"/>
          <p:cNvSpPr/>
          <p:nvPr/>
        </p:nvSpPr>
        <p:spPr>
          <a:xfrm>
            <a:off x="4114800" y="2926080"/>
            <a:ext cx="3931920" cy="381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00400"/>
            <a:ext cx="10332720" cy="640080"/>
          </a:xfrm>
          <a:prstGeom prst="rect">
            <a:avLst/>
          </a:prstGeom>
          <a:noFill/>
        </p:spPr>
        <p:txBody>
          <a:bodyPr wrap="square">
            <a:spAutoFit/>
          </a:bodyPr>
          <a:lstStyle/>
          <a:p>
            <a:pPr algn="ctr">
              <a:defRPr sz="1800" b="0">
                <a:solidFill>
                  <a:srgbClr val="333333"/>
                </a:solidFill>
                <a:latin typeface="Calibri"/>
              </a:defRPr>
            </a:pPr>
            <a:r>
              <a:t>Social Guard AI  --  Multi-Layered Deepfake Detection with Explainable AI</a:t>
            </a:r>
          </a:p>
        </p:txBody>
      </p:sp>
      <p:sp>
        <p:nvSpPr>
          <p:cNvPr id="8" name="TextBox 7"/>
          <p:cNvSpPr txBox="1"/>
          <p:nvPr/>
        </p:nvSpPr>
        <p:spPr>
          <a:xfrm>
            <a:off x="914400" y="4114800"/>
            <a:ext cx="10332720" cy="640080"/>
          </a:xfrm>
          <a:prstGeom prst="rect">
            <a:avLst/>
          </a:prstGeom>
          <a:noFill/>
        </p:spPr>
        <p:txBody>
          <a:bodyPr wrap="square">
            <a:spAutoFit/>
          </a:bodyPr>
          <a:lstStyle/>
          <a:p>
            <a:pPr algn="ctr">
              <a:defRPr sz="3000" b="1">
                <a:solidFill>
                  <a:srgbClr val="1A73E8"/>
                </a:solidFill>
                <a:latin typeface="Calibri"/>
              </a:defRPr>
            </a:pPr>
            <a:r>
              <a:t>Questions?</a:t>
            </a:r>
          </a:p>
        </p:txBody>
      </p:sp>
      <p:sp>
        <p:nvSpPr>
          <p:cNvPr id="9" name="TextBox 8"/>
          <p:cNvSpPr txBox="1"/>
          <p:nvPr/>
        </p:nvSpPr>
        <p:spPr>
          <a:xfrm>
            <a:off x="914400" y="5303520"/>
            <a:ext cx="10332720" cy="457200"/>
          </a:xfrm>
          <a:prstGeom prst="rect">
            <a:avLst/>
          </a:prstGeom>
          <a:noFill/>
        </p:spPr>
        <p:txBody>
          <a:bodyPr wrap="square">
            <a:spAutoFit/>
          </a:bodyPr>
          <a:lstStyle/>
          <a:p>
            <a:pPr algn="ctr">
              <a:defRPr sz="1400" b="0">
                <a:solidFill>
                  <a:srgbClr val="888888"/>
                </a:solidFill>
                <a:latin typeface="Calibri"/>
              </a:defRPr>
            </a:pPr>
            <a:r>
              <a:t>Abdul Taufique  |  Altamash Tirandaz  |  Pratik Nannajkar  |  Hrishshikesh Nikam</a:t>
            </a:r>
          </a:p>
        </p:txBody>
      </p:sp>
      <p:sp>
        <p:nvSpPr>
          <p:cNvPr id="10" name="TextBox 9"/>
          <p:cNvSpPr txBox="1"/>
          <p:nvPr/>
        </p:nvSpPr>
        <p:spPr>
          <a:xfrm>
            <a:off x="914400" y="5760720"/>
            <a:ext cx="10332720" cy="457200"/>
          </a:xfrm>
          <a:prstGeom prst="rect">
            <a:avLst/>
          </a:prstGeom>
          <a:noFill/>
        </p:spPr>
        <p:txBody>
          <a:bodyPr wrap="square">
            <a:spAutoFit/>
          </a:bodyPr>
          <a:lstStyle/>
          <a:p>
            <a:pPr algn="ctr">
              <a:defRPr sz="1200" b="0">
                <a:solidFill>
                  <a:srgbClr val="888888"/>
                </a:solidFill>
                <a:latin typeface="Calibri"/>
              </a:defRPr>
            </a:pPr>
            <a:r>
              <a:t>Department of Artificial Intelligence  |  Dr. D. Y. Patil Vidyapeeth, Pune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